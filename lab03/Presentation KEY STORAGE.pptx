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77" r:id="rId9"/>
    <p:sldId id="278" r:id="rId10"/>
    <p:sldId id="27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B1313"/>
    <a:srgbClr val="E1D2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A0136-5786-4E48-A46E-585B0C0B8E64}" type="datetimeFigureOut">
              <a:rPr lang="en-US" smtClean="0"/>
              <a:t>25-Sep-25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AB6E0-F2D0-495C-AA2D-5F91942827C6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8260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A0136-5786-4E48-A46E-585B0C0B8E64}" type="datetimeFigureOut">
              <a:rPr lang="en-US" smtClean="0"/>
              <a:t>25-Sep-25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AB6E0-F2D0-495C-AA2D-5F91942827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212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A0136-5786-4E48-A46E-585B0C0B8E64}" type="datetimeFigureOut">
              <a:rPr lang="en-US" smtClean="0"/>
              <a:t>25-Sep-25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AB6E0-F2D0-495C-AA2D-5F91942827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735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A0136-5786-4E48-A46E-585B0C0B8E64}" type="datetimeFigureOut">
              <a:rPr lang="en-US" smtClean="0"/>
              <a:t>25-Sep-25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AB6E0-F2D0-495C-AA2D-5F91942827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163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A0136-5786-4E48-A46E-585B0C0B8E64}" type="datetimeFigureOut">
              <a:rPr lang="en-US" smtClean="0"/>
              <a:t>25-Sep-25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AB6E0-F2D0-495C-AA2D-5F91942827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088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A0136-5786-4E48-A46E-585B0C0B8E64}" type="datetimeFigureOut">
              <a:rPr lang="en-US" smtClean="0"/>
              <a:t>25-Sep-25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AB6E0-F2D0-495C-AA2D-5F91942827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342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A0136-5786-4E48-A46E-585B0C0B8E64}" type="datetimeFigureOut">
              <a:rPr lang="en-US" smtClean="0"/>
              <a:t>25-Sep-25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AB6E0-F2D0-495C-AA2D-5F91942827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06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A0136-5786-4E48-A46E-585B0C0B8E64}" type="datetimeFigureOut">
              <a:rPr lang="en-US" smtClean="0"/>
              <a:t>25-Sep-25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AB6E0-F2D0-495C-AA2D-5F91942827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568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A0136-5786-4E48-A46E-585B0C0B8E64}" type="datetimeFigureOut">
              <a:rPr lang="en-US" smtClean="0"/>
              <a:t>25-Sep-25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AB6E0-F2D0-495C-AA2D-5F91942827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19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A0136-5786-4E48-A46E-585B0C0B8E64}" type="datetimeFigureOut">
              <a:rPr lang="en-US" smtClean="0"/>
              <a:t>25-Sep-25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AB6E0-F2D0-495C-AA2D-5F91942827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95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A0136-5786-4E48-A46E-585B0C0B8E64}" type="datetimeFigureOut">
              <a:rPr lang="en-US" smtClean="0"/>
              <a:t>25-Sep-25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AB6E0-F2D0-495C-AA2D-5F91942827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436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A0136-5786-4E48-A46E-585B0C0B8E64}" type="datetimeFigureOut">
              <a:rPr lang="en-US" smtClean="0"/>
              <a:t>25-Sep-25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AB6E0-F2D0-495C-AA2D-5F91942827C6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43234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A0136-5786-4E48-A46E-585B0C0B8E64}" type="datetimeFigureOut">
              <a:rPr lang="en-US" smtClean="0"/>
              <a:t>25-Sep-25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AB6E0-F2D0-495C-AA2D-5F91942827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778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A0136-5786-4E48-A46E-585B0C0B8E64}" type="datetimeFigureOut">
              <a:rPr lang="en-US" smtClean="0"/>
              <a:t>25-Sep-25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AB6E0-F2D0-495C-AA2D-5F91942827C6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85170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A0136-5786-4E48-A46E-585B0C0B8E64}" type="datetimeFigureOut">
              <a:rPr lang="en-US" smtClean="0"/>
              <a:t>25-Sep-25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AB6E0-F2D0-495C-AA2D-5F91942827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534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A0136-5786-4E48-A46E-585B0C0B8E64}" type="datetimeFigureOut">
              <a:rPr lang="en-US" smtClean="0"/>
              <a:t>25-Sep-25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AB6E0-F2D0-495C-AA2D-5F91942827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208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A0136-5786-4E48-A46E-585B0C0B8E64}" type="datetimeFigureOut">
              <a:rPr lang="en-US" smtClean="0"/>
              <a:t>25-Sep-25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AB6E0-F2D0-495C-AA2D-5F91942827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378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rgbClr val="C8ACD9">
                <a:alpha val="60000"/>
              </a:srgbClr>
            </a:gs>
            <a:gs pos="43000">
              <a:schemeClr val="accent2">
                <a:lumMod val="20000"/>
                <a:lumOff val="80000"/>
                <a:alpha val="0"/>
              </a:schemeClr>
            </a:gs>
            <a:gs pos="100000">
              <a:srgbClr val="620932">
                <a:alpha val="95000"/>
              </a:srgbClr>
            </a:gs>
          </a:gsLst>
          <a:lin ang="612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3F1A0136-5786-4E48-A46E-585B0C0B8E64}" type="datetimeFigureOut">
              <a:rPr lang="en-US" smtClean="0"/>
              <a:t>25-Sep-25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46BAB6E0-F2D0-495C-AA2D-5F91942827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48898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1" y="685799"/>
            <a:ext cx="10533685" cy="2971801"/>
          </a:xfrm>
        </p:spPr>
        <p:txBody>
          <a:bodyPr/>
          <a:lstStyle/>
          <a:p>
            <a:pPr algn="ctr"/>
            <a:r>
              <a:rPr lang="en-US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STORAGE 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1" y="3843867"/>
            <a:ext cx="10722221" cy="1947333"/>
          </a:xfrm>
        </p:spPr>
        <p:txBody>
          <a:bodyPr/>
          <a:lstStyle/>
          <a:p>
            <a:pPr algn="ctr"/>
            <a:r>
              <a:rPr lang="en-US" dirty="0" smtClean="0"/>
              <a:t>BY AQSA EHSAN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51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82805"/>
            <a:ext cx="12192000" cy="650450"/>
          </a:xfrm>
          <a:prstGeom prst="rect">
            <a:avLst/>
          </a:prstGeom>
          <a:solidFill>
            <a:srgbClr val="6B13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STORAGE 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4462" y="1923144"/>
            <a:ext cx="11397007" cy="4278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Definition: </a:t>
            </a:r>
          </a:p>
          <a:p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KV Storage — Definition</a:t>
            </a:r>
          </a:p>
          <a:p>
            <a:pPr lvl="0"/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NoSQL data model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that stores data as 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pairs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a unique 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its 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Access pattern: 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“give key → get value”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(dictionary-like), optimized for 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very fast reads/writes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Minimal querying (no joins/complex filters); focuses on speed and simplicity.</a:t>
            </a:r>
          </a:p>
          <a:p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product:1001:title → "Blue Cotton Shirt"</a:t>
            </a:r>
            <a:b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product:1001:price → 1999</a:t>
            </a:r>
          </a:p>
        </p:txBody>
      </p:sp>
    </p:spTree>
    <p:extLst>
      <p:ext uri="{BB962C8B-B14F-4D97-AF65-F5344CB8AC3E}">
        <p14:creationId xmlns:p14="http://schemas.microsoft.com/office/powerpoint/2010/main" val="3250999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82805"/>
            <a:ext cx="12192000" cy="650450"/>
          </a:xfrm>
          <a:prstGeom prst="rect">
            <a:avLst/>
          </a:prstGeom>
          <a:solidFill>
            <a:srgbClr val="6B13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KV Storage — Core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2020" y="1554669"/>
            <a:ext cx="10887959" cy="43858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Speed: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 near O(1) lookups; low latency.</a:t>
            </a:r>
            <a:b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</a:b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ea typeface="Aptos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Simplicity: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 GET/SET/DEL, atomic counters (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INCR/DECR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).</a:t>
            </a:r>
            <a:b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</a:b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ea typeface="Aptos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TTL/Expiry: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 auto-remove stale data (sessions, cache).</a:t>
            </a:r>
            <a:b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</a:b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ea typeface="Aptos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Data structures (tool-dependent):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 strings, hashes, lists, sets, sorted sets, streams.</a:t>
            </a:r>
            <a:b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</a:b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ea typeface="Aptos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180"/>
              </a:spcBef>
              <a:spcAft>
                <a:spcPts val="180"/>
              </a:spcAft>
              <a:buFont typeface="Symbol" panose="05050102010706020507" pitchFamily="18" charset="2"/>
              <a:buChar char=""/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Scalability: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sharding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/partitioning; replicas for HA.</a:t>
            </a:r>
            <a:b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</a:b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ea typeface="Aptos"/>
              <a:cs typeface="Times New Roman" panose="02020603050405020304" pitchFamily="18" charset="0"/>
            </a:endParaRPr>
          </a:p>
          <a:p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Persistence options: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Aptos"/>
                <a:cs typeface="Times New Roman" panose="02020603050405020304" pitchFamily="18" charset="0"/>
              </a:rPr>
              <a:t> in-memory primary with optional on-disk snapshots/logs.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2017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82805"/>
            <a:ext cx="12192000" cy="650450"/>
          </a:xfrm>
          <a:prstGeom prst="rect">
            <a:avLst/>
          </a:prstGeom>
          <a:solidFill>
            <a:srgbClr val="6B13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KV Storage Tools — Overview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86499" y="2044255"/>
            <a:ext cx="10671142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Redis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in-memory KV with rich data structures, TTL, pub/sub, streams; optional persistence.</a:t>
            </a:r>
            <a:b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Amazon 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DynamoDB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fully managed </a:t>
            </a:r>
            <a:r>
              <a:rPr lang="en-US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serverless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KV/NoSQL on AWS; high scale, TTL, streams.</a:t>
            </a:r>
            <a:b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Memcached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simple distributed cache (volatile; no persistence, limited types).</a:t>
            </a:r>
            <a:b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RocksDB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LevelDB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embedded KV engines inside applications (on-disk, very fast).</a:t>
            </a:r>
            <a:b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Couchbase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/Aerospike/</a:t>
            </a:r>
            <a:r>
              <a:rPr lang="en-US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Riak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distributed KV/NoSQL databases with clustering.</a:t>
            </a:r>
          </a:p>
        </p:txBody>
      </p:sp>
    </p:spTree>
    <p:extLst>
      <p:ext uri="{BB962C8B-B14F-4D97-AF65-F5344CB8AC3E}">
        <p14:creationId xmlns:p14="http://schemas.microsoft.com/office/powerpoint/2010/main" val="800599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42507" y="1404595"/>
            <a:ext cx="10903671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Caching (product details / user profiles)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Keep frequently-read data in memory with a short TTL to avoid slow DB calls.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SETEX product:123 300 '{"id":123,"price":1499}' (cache for 5 min)</a:t>
            </a:r>
          </a:p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Sessions &amp; tokens (login state)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Store a user’s session/token with expiry so logins auto-expire.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SETEX session:abc123 3600 "user:42" (valid for 1 hour)</a:t>
            </a:r>
          </a:p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Rate limiting &amp; counters (API quotas, page views)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 events in a time window and block when the limit is hit.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INCR user:42:rl:2025-10-01T22:34 → EXPIRE user:42:rl:2025-10-01T22:34 60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(per-minute counter; if value &gt; N, throttle)</a:t>
            </a:r>
          </a:p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Leaderboards / real-time metrics (sorted sets)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Maintain ranked lists by a numeric score using Sorted Sets.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ZADD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quiz:leaderboard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980 "user:42" → ZREVRANGE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quiz:leaderboard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0 9 WITHSCORES</a:t>
            </a:r>
          </a:p>
          <a:p>
            <a:r>
              <a:rPr lang="en-US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flags (on/off toggles)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Flip features per app/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env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or per user for gradual rollout.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SET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feature:new_checkout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"on" or HSET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flags:env:prod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new_checkout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on</a:t>
            </a:r>
          </a:p>
          <a:p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282805"/>
            <a:ext cx="12192000" cy="650450"/>
          </a:xfrm>
          <a:prstGeom prst="rect">
            <a:avLst/>
          </a:prstGeom>
          <a:solidFill>
            <a:srgbClr val="6B13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Redis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-Use cases 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4044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427" y="282805"/>
            <a:ext cx="12192000" cy="650450"/>
          </a:xfrm>
          <a:prstGeom prst="rect">
            <a:avLst/>
          </a:prstGeom>
          <a:solidFill>
            <a:srgbClr val="6B13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How </a:t>
            </a:r>
            <a:r>
              <a:rPr lang="en-US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Redis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is Typically used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22549" y="1007773"/>
            <a:ext cx="741889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219200"/>
            <a:ext cx="11430000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670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82805"/>
            <a:ext cx="12192000" cy="650450"/>
          </a:xfrm>
          <a:prstGeom prst="rect">
            <a:avLst/>
          </a:prstGeom>
          <a:solidFill>
            <a:srgbClr val="6B13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CASE STUDY </a:t>
            </a:r>
            <a:r>
              <a:rPr lang="en-US" sz="2800" dirty="0" smtClean="0"/>
              <a:t> 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Timed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Quiz — Students &amp; Leaderboard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47687" y="933255"/>
            <a:ext cx="1189662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27350" y="1271809"/>
            <a:ext cx="10064684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You’re running a 30-minute quiz. Each student has a profile, and every correct answer adds points to their score. We need to: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store student profiles,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track the quiz window (start/end),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accept submissions (rate-limited),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update the leaderboard,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 current standings,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fix profile details if needed,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delete records at the end.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We’ll use only core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Redis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data types (Strings, Hashes, Sorted Sets) so it works on any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Redis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Cloud plan and in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Redis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Insight</a:t>
            </a:r>
            <a:r>
              <a:rPr lang="en-US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design (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namespaced</a:t>
            </a:r>
            <a:r>
              <a:rPr lang="en-US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quiz:student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:&lt;id&gt; — Hash (student profile: name, </a:t>
            </a:r>
            <a:r>
              <a:rPr lang="en-US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</a:t>
            </a:r>
            <a:r>
              <a:rPr lang="en-US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quiz:leaderboard</a:t>
            </a:r>
            <a:endParaRPr lang="en-US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Sorted 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 (member = student id, score = </a:t>
            </a:r>
            <a:r>
              <a:rPr lang="en-US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points)</a:t>
            </a:r>
            <a:r>
              <a:rPr lang="en-US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quiz:ends_at</a:t>
            </a:r>
            <a:r>
              <a:rPr lang="en-US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 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unix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timestamp; also used for TTL checks)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quiz:rate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:&lt;id&gt;:&lt;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unix_min</a:t>
            </a:r>
            <a:r>
              <a:rPr lang="en-US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 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(submission rate-limit counter per minute)</a:t>
            </a:r>
          </a:p>
        </p:txBody>
      </p:sp>
    </p:spTree>
    <p:extLst>
      <p:ext uri="{BB962C8B-B14F-4D97-AF65-F5344CB8AC3E}">
        <p14:creationId xmlns:p14="http://schemas.microsoft.com/office/powerpoint/2010/main" val="1711475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82805"/>
            <a:ext cx="12192000" cy="650450"/>
          </a:xfrm>
          <a:prstGeom prst="rect">
            <a:avLst/>
          </a:prstGeom>
          <a:solidFill>
            <a:srgbClr val="6B13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CASE STUDY </a:t>
            </a:r>
            <a:r>
              <a:rPr lang="en-US" sz="2800" dirty="0" smtClean="0"/>
              <a:t> 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Timed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Quiz — Students &amp; Leaderboard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99068" y="1260365"/>
            <a:ext cx="905601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you’ll be able to show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SET/GET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set quiz end time, get it; rate-limit counters.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UPDATE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ZINCRBY to add score; HSET to update student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DELETE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DEL a profile; ZREM from leaderboard; cleanup keys.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99068" y="2910914"/>
            <a:ext cx="798136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Seed sample </a:t>
            </a:r>
            <a:r>
              <a:rPr lang="en-US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</a:p>
          <a:p>
            <a:r>
              <a:rPr lang="en-US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HSET 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quiz:student:101 name "Aqsa"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"</a:t>
            </a:r>
            <a:r>
              <a:rPr lang="en-US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CS“</a:t>
            </a:r>
          </a:p>
          <a:p>
            <a:r>
              <a:rPr lang="en-US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HSET 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quiz:student:102 name "Bilal"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"</a:t>
            </a:r>
            <a:r>
              <a:rPr lang="en-US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SE“</a:t>
            </a:r>
          </a:p>
          <a:p>
            <a:r>
              <a:rPr lang="en-US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HSET 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quiz:student:103 name "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Daniyal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"</a:t>
            </a:r>
            <a:r>
              <a:rPr lang="en-US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AI“</a:t>
            </a:r>
          </a:p>
          <a:p>
            <a:r>
              <a:rPr lang="en-US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ZADD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quiz:leaderboard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0 101 0 102 0 </a:t>
            </a:r>
            <a:r>
              <a:rPr lang="en-US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103</a:t>
            </a:r>
          </a:p>
          <a:p>
            <a:r>
              <a:rPr lang="en-US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quiz:ends_at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{UNIXTIME} EX 3600</a:t>
            </a:r>
          </a:p>
        </p:txBody>
      </p:sp>
      <p:sp>
        <p:nvSpPr>
          <p:cNvPr id="6" name="Rectangle 5"/>
          <p:cNvSpPr/>
          <p:nvPr/>
        </p:nvSpPr>
        <p:spPr>
          <a:xfrm>
            <a:off x="474483" y="4992350"/>
            <a:ext cx="727435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 (GET) </a:t>
            </a:r>
            <a:r>
              <a:rPr lang="en-US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scenarios</a:t>
            </a:r>
          </a:p>
          <a:p>
            <a:r>
              <a:rPr lang="en-US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 </a:t>
            </a:r>
            <a:r>
              <a:rPr lang="en-US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quiz:ends_at</a:t>
            </a:r>
            <a:endParaRPr lang="en-US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HGETALL quiz:student:101</a:t>
            </a:r>
          </a:p>
          <a:p>
            <a:r>
              <a:rPr lang="en-US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ZRANGE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quiz:leaderboard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0 -1 </a:t>
            </a:r>
            <a:r>
              <a:rPr lang="en-US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WITHSCORES</a:t>
            </a:r>
          </a:p>
          <a:p>
            <a:r>
              <a:rPr lang="en-US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ZREVRANGE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quiz:leaderboard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0 -1 WITHSCORES</a:t>
            </a:r>
          </a:p>
        </p:txBody>
      </p:sp>
    </p:spTree>
    <p:extLst>
      <p:ext uri="{BB962C8B-B14F-4D97-AF65-F5344CB8AC3E}">
        <p14:creationId xmlns:p14="http://schemas.microsoft.com/office/powerpoint/2010/main" val="374002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82805"/>
            <a:ext cx="12192000" cy="650450"/>
          </a:xfrm>
          <a:prstGeom prst="rect">
            <a:avLst/>
          </a:prstGeom>
          <a:solidFill>
            <a:srgbClr val="6B13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CASE STUDY </a:t>
            </a:r>
            <a:r>
              <a:rPr lang="en-US" sz="2800" dirty="0" smtClean="0"/>
              <a:t> 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Timed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Quiz — Students &amp; Leaderboard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17921" y="1272695"/>
            <a:ext cx="8622384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Update (scores &amp; profiles</a:t>
            </a:r>
            <a:r>
              <a:rPr lang="en-US" sz="20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ZINCRBY 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quiz:leaderboard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5 101      # Aqsa +5 </a:t>
            </a:r>
            <a:r>
              <a:rPr lang="en-US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points</a:t>
            </a:r>
          </a:p>
          <a:p>
            <a:r>
              <a:rPr lang="en-US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ZINCRBY 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quiz:leaderboard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3 102      # Bilal +3 </a:t>
            </a:r>
            <a:r>
              <a:rPr lang="en-US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points</a:t>
            </a:r>
          </a:p>
          <a:p>
            <a:r>
              <a:rPr lang="en-US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ZINCRBY 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quiz:leaderboard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7 103      # 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Daniyal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+7 </a:t>
            </a:r>
            <a:r>
              <a:rPr lang="en-US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points</a:t>
            </a:r>
          </a:p>
          <a:p>
            <a:r>
              <a:rPr lang="en-US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ZREVRANGE 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quiz:leaderboard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0 2 WITHSCORES   # Top 3HSET quiz:student:102 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"CS"             # Fix 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</a:t>
            </a:r>
            <a:r>
              <a:rPr lang="en-US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Bilal</a:t>
            </a:r>
          </a:p>
          <a:p>
            <a:r>
              <a:rPr lang="en-US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HGETALL 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quiz:student:102</a:t>
            </a:r>
          </a:p>
        </p:txBody>
      </p:sp>
      <p:sp>
        <p:nvSpPr>
          <p:cNvPr id="7" name="Rectangle 6"/>
          <p:cNvSpPr/>
          <p:nvPr/>
        </p:nvSpPr>
        <p:spPr>
          <a:xfrm>
            <a:off x="417921" y="3997041"/>
            <a:ext cx="1073398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Delete scenarios (cleanup</a:t>
            </a:r>
            <a:r>
              <a:rPr lang="en-US" sz="20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HDEL 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quiz:student:103 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# remove a single field from the </a:t>
            </a:r>
            <a:r>
              <a:rPr lang="en-US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hash</a:t>
            </a:r>
          </a:p>
          <a:p>
            <a:r>
              <a:rPr lang="en-US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ZREM 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quiz:leaderboard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103             # remove 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Daniyal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from the </a:t>
            </a:r>
            <a:r>
              <a:rPr lang="en-US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board</a:t>
            </a:r>
          </a:p>
          <a:p>
            <a:r>
              <a:rPr lang="en-US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 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quiz:student:103                  # delete the profile </a:t>
            </a:r>
            <a:r>
              <a:rPr lang="en-US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</a:p>
          <a:p>
            <a:r>
              <a:rPr lang="en-US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EXISTS quiz:student:103</a:t>
            </a:r>
          </a:p>
          <a:p>
            <a:r>
              <a:rPr lang="en-US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ZREVRANGE 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quiz:leaderboard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0 -1 WITHSCORES</a:t>
            </a:r>
          </a:p>
        </p:txBody>
      </p:sp>
    </p:spTree>
    <p:extLst>
      <p:ext uri="{BB962C8B-B14F-4D97-AF65-F5344CB8AC3E}">
        <p14:creationId xmlns:p14="http://schemas.microsoft.com/office/powerpoint/2010/main" val="1521204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979629"/>
            <a:ext cx="12192000" cy="2158738"/>
          </a:xfrm>
          <a:prstGeom prst="rect">
            <a:avLst/>
          </a:prstGeom>
          <a:solidFill>
            <a:srgbClr val="6B13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ANY QUESTIONS ?</a:t>
            </a:r>
            <a:endParaRPr 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0889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Qatar_Airways_QBR_Final_Presentation</Template>
  <TotalTime>10568</TotalTime>
  <Words>638</Words>
  <Application>Microsoft Office PowerPoint</Application>
  <PresentationFormat>Widescreen</PresentationFormat>
  <Paragraphs>88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</vt:lpstr>
      <vt:lpstr>Arial</vt:lpstr>
      <vt:lpstr>Century Gothic</vt:lpstr>
      <vt:lpstr>Symbol</vt:lpstr>
      <vt:lpstr>Times New Roman</vt:lpstr>
      <vt:lpstr>Wingdings 3</vt:lpstr>
      <vt:lpstr>Slice</vt:lpstr>
      <vt:lpstr>KEY STORAGE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MRT www.Win2Farsi.com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Moorche</dc:creator>
  <cp:lastModifiedBy>Moorche</cp:lastModifiedBy>
  <cp:revision>32</cp:revision>
  <dcterms:created xsi:type="dcterms:W3CDTF">2025-09-23T15:08:42Z</dcterms:created>
  <dcterms:modified xsi:type="dcterms:W3CDTF">2025-10-01T22:53:45Z</dcterms:modified>
</cp:coreProperties>
</file>