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1313"/>
    <a:srgbClr val="E1D2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82608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14092121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8557353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F1A0136-5786-4E48-A46E-585B0C0B8E64}" type="datetimeFigureOut">
              <a:rPr lang="en-US" smtClean="0"/>
              <a:t>23-Sep-25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23811639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F1A0136-5786-4E48-A46E-585B0C0B8E64}" type="datetimeFigureOut">
              <a:rPr lang="en-US" smtClean="0"/>
              <a:t>23-Sep-25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32370881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F1A0136-5786-4E48-A46E-585B0C0B8E64}" type="datetimeFigureOut">
              <a:rPr lang="en-US" smtClean="0"/>
              <a:t>23-Sep-25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11443425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1A0136-5786-4E48-A46E-585B0C0B8E64}" type="datetimeFigureOut">
              <a:rPr lang="en-US" smtClean="0"/>
              <a:t>23-Sep-25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879064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F1A0136-5786-4E48-A46E-585B0C0B8E64}" type="datetimeFigureOut">
              <a:rPr lang="en-US" smtClean="0"/>
              <a:t>23-Sep-25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9675680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F1A0136-5786-4E48-A46E-585B0C0B8E64}" type="datetimeFigureOut">
              <a:rPr lang="en-US" smtClean="0"/>
              <a:t>23-Sep-25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2934191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Date Placeholder 2"/>
          <p:cNvSpPr>
            <a:spLocks noGrp="1"/>
          </p:cNvSpPr>
          <p:nvPr>
            <p:ph type="dt" sz="half" idx="10"/>
          </p:nvPr>
        </p:nvSpPr>
        <p:spPr/>
        <p:txBody>
          <a:bodyPr/>
          <a:lstStyle/>
          <a:p>
            <a:fld id="{3F1A0136-5786-4E48-A46E-585B0C0B8E64}" type="datetimeFigureOut">
              <a:rPr lang="en-US" smtClean="0"/>
              <a:t>23-Sep-25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1206953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2686436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432340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42177785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851708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13535341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24862082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1A0136-5786-4E48-A46E-585B0C0B8E64}"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BAB6E0-F2D0-495C-AA2D-5F91942827C6}" type="slidenum">
              <a:rPr lang="en-US" smtClean="0"/>
              <a:t>‹#›</a:t>
            </a:fld>
            <a:endParaRPr lang="en-US"/>
          </a:p>
        </p:txBody>
      </p:sp>
    </p:spTree>
    <p:extLst>
      <p:ext uri="{BB962C8B-B14F-4D97-AF65-F5344CB8AC3E}">
        <p14:creationId xmlns:p14="http://schemas.microsoft.com/office/powerpoint/2010/main" val="39293783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C8ACD9">
                <a:alpha val="60000"/>
              </a:srgbClr>
            </a:gs>
            <a:gs pos="43000">
              <a:schemeClr val="accent2">
                <a:lumMod val="20000"/>
                <a:lumOff val="80000"/>
                <a:alpha val="0"/>
              </a:schemeClr>
            </a:gs>
            <a:gs pos="100000">
              <a:srgbClr val="620932">
                <a:alpha val="95000"/>
              </a:srgbClr>
            </a:gs>
          </a:gsLst>
          <a:lin ang="612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F1A0136-5786-4E48-A46E-585B0C0B8E64}" type="datetimeFigureOut">
              <a:rPr lang="en-US" smtClean="0"/>
              <a:t>23-Sep-25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46BAB6E0-F2D0-495C-AA2D-5F91942827C6}" type="slidenum">
              <a:rPr lang="en-US" smtClean="0"/>
              <a:t>‹#›</a:t>
            </a:fld>
            <a:endParaRPr lang="en-US"/>
          </a:p>
        </p:txBody>
      </p:sp>
    </p:spTree>
    <p:extLst>
      <p:ext uri="{BB962C8B-B14F-4D97-AF65-F5344CB8AC3E}">
        <p14:creationId xmlns:p14="http://schemas.microsoft.com/office/powerpoint/2010/main" val="25574889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38517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OBJECT STORAGE </a:t>
            </a:r>
            <a:endParaRPr lang="en-US" sz="2800" b="1" dirty="0">
              <a:latin typeface="Times New Roman" panose="02020603050405020304" pitchFamily="18" charset="0"/>
              <a:cs typeface="Times New Roman" panose="02020603050405020304" pitchFamily="18" charset="0"/>
            </a:endParaRPr>
          </a:p>
        </p:txBody>
      </p:sp>
      <p:sp>
        <p:nvSpPr>
          <p:cNvPr id="6" name="Rectangle 5"/>
          <p:cNvSpPr/>
          <p:nvPr/>
        </p:nvSpPr>
        <p:spPr>
          <a:xfrm>
            <a:off x="584462" y="1923144"/>
            <a:ext cx="11397007" cy="3046988"/>
          </a:xfrm>
          <a:prstGeom prst="rect">
            <a:avLst/>
          </a:prstGeom>
        </p:spPr>
        <p:txBody>
          <a:bodyPr wrap="square">
            <a:spAutoFit/>
          </a:bodyPr>
          <a:lstStyle/>
          <a:p>
            <a:r>
              <a:rPr lang="en-US" sz="2400" b="1" dirty="0" smtClean="0">
                <a:solidFill>
                  <a:schemeClr val="bg1"/>
                </a:solidFill>
                <a:latin typeface="Times New Roman" panose="02020603050405020304" pitchFamily="18" charset="0"/>
                <a:cs typeface="Times New Roman" panose="02020603050405020304" pitchFamily="18" charset="0"/>
              </a:rPr>
              <a:t>Definition: </a:t>
            </a:r>
          </a:p>
          <a:p>
            <a:r>
              <a:rPr lang="en-US" sz="2400" dirty="0" smtClean="0">
                <a:solidFill>
                  <a:schemeClr val="bg1"/>
                </a:solidFill>
                <a:latin typeface="Times New Roman" panose="02020603050405020304" pitchFamily="18" charset="0"/>
                <a:cs typeface="Times New Roman" panose="02020603050405020304" pitchFamily="18" charset="0"/>
              </a:rPr>
              <a:t>A storage system that manages data as objects rather than files or disk blocks.</a:t>
            </a:r>
          </a:p>
          <a:p>
            <a:endParaRPr lang="en-US" sz="2400" dirty="0" smtClean="0">
              <a:solidFill>
                <a:schemeClr val="bg1"/>
              </a:solidFill>
              <a:latin typeface="Times New Roman" panose="02020603050405020304" pitchFamily="18" charset="0"/>
              <a:cs typeface="Times New Roman" panose="02020603050405020304" pitchFamily="18" charset="0"/>
            </a:endParaRPr>
          </a:p>
          <a:p>
            <a:pPr algn="ctr"/>
            <a:r>
              <a:rPr lang="en-US" sz="2400" b="1" dirty="0" smtClean="0">
                <a:solidFill>
                  <a:schemeClr val="bg1"/>
                </a:solidFill>
                <a:latin typeface="Times New Roman" panose="02020603050405020304" pitchFamily="18" charset="0"/>
                <a:cs typeface="Times New Roman" panose="02020603050405020304" pitchFamily="18" charset="0"/>
              </a:rPr>
              <a:t>Object = Data + Metadata + Key</a:t>
            </a:r>
          </a:p>
          <a:p>
            <a:pPr algn="ctr"/>
            <a:endParaRPr lang="en-US" sz="2400" b="1" dirty="0" smtClean="0">
              <a:solidFill>
                <a:schemeClr val="bg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b="1" dirty="0" smtClean="0">
                <a:solidFill>
                  <a:schemeClr val="bg1"/>
                </a:solidFill>
                <a:latin typeface="Times New Roman" panose="02020603050405020304" pitchFamily="18" charset="0"/>
                <a:cs typeface="Times New Roman" panose="02020603050405020304" pitchFamily="18" charset="0"/>
              </a:rPr>
              <a:t>Data:</a:t>
            </a:r>
            <a:r>
              <a:rPr lang="en-US" sz="2400" dirty="0" smtClean="0">
                <a:solidFill>
                  <a:schemeClr val="bg1"/>
                </a:solidFill>
                <a:latin typeface="Times New Roman" panose="02020603050405020304" pitchFamily="18" charset="0"/>
                <a:cs typeface="Times New Roman" panose="02020603050405020304" pitchFamily="18" charset="0"/>
              </a:rPr>
              <a:t> The actual content (e.g., image, video, JSON).</a:t>
            </a:r>
          </a:p>
          <a:p>
            <a:pPr marL="457200" indent="-457200">
              <a:buFont typeface="Arial" panose="020B0604020202020204" pitchFamily="34" charset="0"/>
              <a:buChar char="•"/>
            </a:pPr>
            <a:r>
              <a:rPr lang="en-US" sz="2400" b="1" dirty="0" smtClean="0">
                <a:solidFill>
                  <a:schemeClr val="bg1"/>
                </a:solidFill>
                <a:latin typeface="Times New Roman" panose="02020603050405020304" pitchFamily="18" charset="0"/>
                <a:cs typeface="Times New Roman" panose="02020603050405020304" pitchFamily="18" charset="0"/>
              </a:rPr>
              <a:t>Metadata:</a:t>
            </a:r>
            <a:r>
              <a:rPr lang="en-US" sz="2400" dirty="0" smtClean="0">
                <a:solidFill>
                  <a:schemeClr val="bg1"/>
                </a:solidFill>
                <a:latin typeface="Times New Roman" panose="02020603050405020304" pitchFamily="18" charset="0"/>
                <a:cs typeface="Times New Roman" panose="02020603050405020304" pitchFamily="18" charset="0"/>
              </a:rPr>
              <a:t> Descriptive attributes (e.g., content type, owner, custom tags).</a:t>
            </a:r>
          </a:p>
          <a:p>
            <a:pPr marL="457200" indent="-457200">
              <a:buFont typeface="Arial" panose="020B0604020202020204" pitchFamily="34" charset="0"/>
              <a:buChar char="•"/>
            </a:pPr>
            <a:r>
              <a:rPr lang="en-US" sz="2400" b="1" dirty="0" smtClean="0">
                <a:solidFill>
                  <a:schemeClr val="bg1"/>
                </a:solidFill>
                <a:latin typeface="Times New Roman" panose="02020603050405020304" pitchFamily="18" charset="0"/>
                <a:cs typeface="Times New Roman" panose="02020603050405020304" pitchFamily="18" charset="0"/>
              </a:rPr>
              <a:t>Key (ID): </a:t>
            </a:r>
            <a:r>
              <a:rPr lang="en-US" sz="2400" dirty="0" smtClean="0">
                <a:solidFill>
                  <a:schemeClr val="bg1"/>
                </a:solidFill>
                <a:latin typeface="Times New Roman" panose="02020603050405020304" pitchFamily="18" charset="0"/>
                <a:cs typeface="Times New Roman" panose="02020603050405020304" pitchFamily="18" charset="0"/>
              </a:rPr>
              <a:t>A globally unique identifier used to locate and retrieve the object</a:t>
            </a:r>
            <a:r>
              <a:rPr lang="en-US" sz="2400" dirty="0" smtClean="0"/>
              <a:t>.</a:t>
            </a:r>
            <a:endParaRPr lang="en-US" sz="2400" dirty="0"/>
          </a:p>
        </p:txBody>
      </p:sp>
    </p:spTree>
    <p:extLst>
      <p:ext uri="{BB962C8B-B14F-4D97-AF65-F5344CB8AC3E}">
        <p14:creationId xmlns:p14="http://schemas.microsoft.com/office/powerpoint/2010/main" val="32509991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 Comparison between object , block and file storage </a:t>
            </a:r>
            <a:endParaRPr lang="en-US" sz="2800" b="1" dirty="0">
              <a:latin typeface="Times New Roman" panose="02020603050405020304" pitchFamily="18" charset="0"/>
              <a:cs typeface="Times New Roman" panose="02020603050405020304" pitchFamily="18" charset="0"/>
            </a:endParaRPr>
          </a:p>
        </p:txBody>
      </p:sp>
      <p:graphicFrame>
        <p:nvGraphicFramePr>
          <p:cNvPr id="17" name="Table 16"/>
          <p:cNvGraphicFramePr>
            <a:graphicFrameLocks noGrp="1"/>
          </p:cNvGraphicFramePr>
          <p:nvPr>
            <p:extLst>
              <p:ext uri="{D42A27DB-BD31-4B8C-83A1-F6EECF244321}">
                <p14:modId xmlns:p14="http://schemas.microsoft.com/office/powerpoint/2010/main" val="2422383815"/>
              </p:ext>
            </p:extLst>
          </p:nvPr>
        </p:nvGraphicFramePr>
        <p:xfrm>
          <a:off x="449342" y="1615211"/>
          <a:ext cx="11293316" cy="4587240"/>
        </p:xfrm>
        <a:graphic>
          <a:graphicData uri="http://schemas.openxmlformats.org/drawingml/2006/table">
            <a:tbl>
              <a:tblPr firstRow="1" bandRow="1">
                <a:tableStyleId>{073A0DAA-6AF3-43AB-8588-CEC1D06C72B9}</a:tableStyleId>
              </a:tblPr>
              <a:tblGrid>
                <a:gridCol w="2823329">
                  <a:extLst>
                    <a:ext uri="{9D8B030D-6E8A-4147-A177-3AD203B41FA5}">
                      <a16:colId xmlns:a16="http://schemas.microsoft.com/office/drawing/2014/main" val="989552667"/>
                    </a:ext>
                  </a:extLst>
                </a:gridCol>
                <a:gridCol w="2823329">
                  <a:extLst>
                    <a:ext uri="{9D8B030D-6E8A-4147-A177-3AD203B41FA5}">
                      <a16:colId xmlns:a16="http://schemas.microsoft.com/office/drawing/2014/main" val="61662547"/>
                    </a:ext>
                  </a:extLst>
                </a:gridCol>
                <a:gridCol w="2823329">
                  <a:extLst>
                    <a:ext uri="{9D8B030D-6E8A-4147-A177-3AD203B41FA5}">
                      <a16:colId xmlns:a16="http://schemas.microsoft.com/office/drawing/2014/main" val="279594474"/>
                    </a:ext>
                  </a:extLst>
                </a:gridCol>
                <a:gridCol w="2823329">
                  <a:extLst>
                    <a:ext uri="{9D8B030D-6E8A-4147-A177-3AD203B41FA5}">
                      <a16:colId xmlns:a16="http://schemas.microsoft.com/office/drawing/2014/main" val="3654478061"/>
                    </a:ext>
                  </a:extLst>
                </a:gridCol>
              </a:tblGrid>
              <a:tr h="370840">
                <a:tc>
                  <a:txBody>
                    <a:bodyPr/>
                    <a:lstStyle/>
                    <a:p>
                      <a:r>
                        <a:rPr lang="en-US" dirty="0"/>
                        <a:t>Aspect</a:t>
                      </a:r>
                    </a:p>
                  </a:txBody>
                  <a:tcPr anchor="ctr"/>
                </a:tc>
                <a:tc>
                  <a:txBody>
                    <a:bodyPr/>
                    <a:lstStyle/>
                    <a:p>
                      <a:r>
                        <a:rPr lang="en-US" dirty="0"/>
                        <a:t>Object Storage</a:t>
                      </a:r>
                    </a:p>
                  </a:txBody>
                  <a:tcPr anchor="ctr"/>
                </a:tc>
                <a:tc>
                  <a:txBody>
                    <a:bodyPr/>
                    <a:lstStyle/>
                    <a:p>
                      <a:r>
                        <a:rPr lang="en-US" dirty="0" smtClean="0"/>
                        <a:t>Block Storage</a:t>
                      </a:r>
                      <a:endParaRPr lang="en-US" dirty="0"/>
                    </a:p>
                  </a:txBody>
                  <a:tcPr anchor="ctr"/>
                </a:tc>
                <a:tc>
                  <a:txBody>
                    <a:bodyPr/>
                    <a:lstStyle/>
                    <a:p>
                      <a:r>
                        <a:rPr lang="en-US" dirty="0" smtClean="0"/>
                        <a:t>File Storage</a:t>
                      </a:r>
                      <a:endParaRPr lang="en-US" dirty="0"/>
                    </a:p>
                  </a:txBody>
                  <a:tcPr anchor="ctr"/>
                </a:tc>
                <a:extLst>
                  <a:ext uri="{0D108BD9-81ED-4DB2-BD59-A6C34878D82A}">
                    <a16:rowId xmlns:a16="http://schemas.microsoft.com/office/drawing/2014/main" val="4237825036"/>
                  </a:ext>
                </a:extLst>
              </a:tr>
              <a:tr h="370840">
                <a:tc>
                  <a:txBody>
                    <a:bodyPr/>
                    <a:lstStyle/>
                    <a:p>
                      <a:r>
                        <a:rPr lang="en-US" dirty="0" smtClean="0"/>
                        <a:t>Data Model</a:t>
                      </a:r>
                      <a:endParaRPr lang="en-US" dirty="0"/>
                    </a:p>
                  </a:txBody>
                  <a:tcPr anchor="ctr"/>
                </a:tc>
                <a:tc>
                  <a:txBody>
                    <a:bodyPr/>
                    <a:lstStyle/>
                    <a:p>
                      <a:r>
                        <a:rPr lang="en-US" dirty="0" smtClean="0"/>
                        <a:t>Object = Data + Metadata + Key</a:t>
                      </a:r>
                      <a:endParaRPr lang="en-US" dirty="0"/>
                    </a:p>
                  </a:txBody>
                  <a:tcPr anchor="ctr"/>
                </a:tc>
                <a:tc>
                  <a:txBody>
                    <a:bodyPr/>
                    <a:lstStyle/>
                    <a:p>
                      <a:r>
                        <a:rPr lang="en-US" dirty="0" smtClean="0"/>
                        <a:t>Fixed-size blocks (volumes)</a:t>
                      </a:r>
                      <a:endParaRPr lang="en-US" dirty="0"/>
                    </a:p>
                  </a:txBody>
                  <a:tcPr anchor="ctr"/>
                </a:tc>
                <a:tc>
                  <a:txBody>
                    <a:bodyPr/>
                    <a:lstStyle/>
                    <a:p>
                      <a:r>
                        <a:rPr lang="en-US" dirty="0" smtClean="0"/>
                        <a:t>Files in folders (hierarchy)</a:t>
                      </a:r>
                      <a:endParaRPr lang="en-US" dirty="0"/>
                    </a:p>
                  </a:txBody>
                  <a:tcPr anchor="ctr"/>
                </a:tc>
                <a:extLst>
                  <a:ext uri="{0D108BD9-81ED-4DB2-BD59-A6C34878D82A}">
                    <a16:rowId xmlns:a16="http://schemas.microsoft.com/office/drawing/2014/main" val="3034824713"/>
                  </a:ext>
                </a:extLst>
              </a:tr>
              <a:tr h="370840">
                <a:tc>
                  <a:txBody>
                    <a:bodyPr/>
                    <a:lstStyle/>
                    <a:p>
                      <a:r>
                        <a:rPr lang="en-US" dirty="0" smtClean="0"/>
                        <a:t>How to Access</a:t>
                      </a:r>
                      <a:endParaRPr lang="en-US" dirty="0"/>
                    </a:p>
                  </a:txBody>
                  <a:tcPr anchor="ctr"/>
                </a:tc>
                <a:tc>
                  <a:txBody>
                    <a:bodyPr/>
                    <a:lstStyle/>
                    <a:p>
                      <a:r>
                        <a:rPr lang="en-US" dirty="0" smtClean="0"/>
                        <a:t>HTTP/HTTPS (REST APIs/SDKs)</a:t>
                      </a:r>
                      <a:endParaRPr lang="en-US" dirty="0"/>
                    </a:p>
                  </a:txBody>
                  <a:tcPr anchor="ctr"/>
                </a:tc>
                <a:tc>
                  <a:txBody>
                    <a:bodyPr/>
                    <a:lstStyle/>
                    <a:p>
                      <a:r>
                        <a:rPr lang="en-US" dirty="0" smtClean="0"/>
                        <a:t>iSCSI / </a:t>
                      </a:r>
                      <a:r>
                        <a:rPr lang="en-US" dirty="0" err="1" smtClean="0"/>
                        <a:t>NVMe</a:t>
                      </a:r>
                      <a:r>
                        <a:rPr lang="en-US" dirty="0" smtClean="0"/>
                        <a:t> / SAN (as a disk)</a:t>
                      </a:r>
                      <a:endParaRPr lang="en-US" dirty="0"/>
                    </a:p>
                  </a:txBody>
                  <a:tcPr anchor="ctr"/>
                </a:tc>
                <a:tc>
                  <a:txBody>
                    <a:bodyPr/>
                    <a:lstStyle/>
                    <a:p>
                      <a:r>
                        <a:rPr lang="en-US" dirty="0" smtClean="0"/>
                        <a:t>NFS / SMB (mounted share)</a:t>
                      </a:r>
                      <a:endParaRPr lang="en-US" dirty="0"/>
                    </a:p>
                  </a:txBody>
                  <a:tcPr anchor="ctr"/>
                </a:tc>
                <a:extLst>
                  <a:ext uri="{0D108BD9-81ED-4DB2-BD59-A6C34878D82A}">
                    <a16:rowId xmlns:a16="http://schemas.microsoft.com/office/drawing/2014/main" val="4041884982"/>
                  </a:ext>
                </a:extLst>
              </a:tr>
              <a:tr h="370840">
                <a:tc>
                  <a:txBody>
                    <a:bodyPr/>
                    <a:lstStyle/>
                    <a:p>
                      <a:r>
                        <a:rPr lang="en-US" dirty="0" smtClean="0"/>
                        <a:t>Performance</a:t>
                      </a:r>
                      <a:endParaRPr lang="en-US" dirty="0"/>
                    </a:p>
                  </a:txBody>
                  <a:tcPr anchor="ctr"/>
                </a:tc>
                <a:tc>
                  <a:txBody>
                    <a:bodyPr/>
                    <a:lstStyle/>
                    <a:p>
                      <a:r>
                        <a:rPr lang="en-US" dirty="0" smtClean="0"/>
                        <a:t>Higher latency; great throughput for big files</a:t>
                      </a:r>
                      <a:endParaRPr lang="en-US" dirty="0"/>
                    </a:p>
                  </a:txBody>
                  <a:tcPr anchor="ctr"/>
                </a:tc>
                <a:tc>
                  <a:txBody>
                    <a:bodyPr/>
                    <a:lstStyle/>
                    <a:p>
                      <a:r>
                        <a:rPr lang="en-US" b="0" dirty="0" smtClean="0"/>
                        <a:t>Lowest latency</a:t>
                      </a:r>
                      <a:r>
                        <a:rPr lang="en-US" dirty="0" smtClean="0"/>
                        <a:t>, high IOPS</a:t>
                      </a:r>
                      <a:endParaRPr lang="en-US" dirty="0"/>
                    </a:p>
                  </a:txBody>
                  <a:tcPr anchor="ctr"/>
                </a:tc>
                <a:tc>
                  <a:txBody>
                    <a:bodyPr/>
                    <a:lstStyle/>
                    <a:p>
                      <a:r>
                        <a:rPr lang="en-US" dirty="0" smtClean="0"/>
                        <a:t>Medium; good for shared access</a:t>
                      </a:r>
                      <a:endParaRPr lang="en-US" dirty="0"/>
                    </a:p>
                  </a:txBody>
                  <a:tcPr anchor="ctr"/>
                </a:tc>
                <a:extLst>
                  <a:ext uri="{0D108BD9-81ED-4DB2-BD59-A6C34878D82A}">
                    <a16:rowId xmlns:a16="http://schemas.microsoft.com/office/drawing/2014/main" val="1046079164"/>
                  </a:ext>
                </a:extLst>
              </a:tr>
              <a:tr h="370840">
                <a:tc>
                  <a:txBody>
                    <a:bodyPr/>
                    <a:lstStyle/>
                    <a:p>
                      <a:r>
                        <a:rPr lang="en-US" dirty="0" smtClean="0"/>
                        <a:t>Scalability</a:t>
                      </a:r>
                      <a:endParaRPr lang="en-US" dirty="0"/>
                    </a:p>
                  </a:txBody>
                  <a:tcPr anchor="ctr"/>
                </a:tc>
                <a:tc>
                  <a:txBody>
                    <a:bodyPr/>
                    <a:lstStyle/>
                    <a:p>
                      <a:r>
                        <a:rPr lang="en-US" dirty="0" smtClean="0"/>
                        <a:t>Massive (petabytes+)</a:t>
                      </a:r>
                      <a:endParaRPr lang="en-US" dirty="0"/>
                    </a:p>
                  </a:txBody>
                  <a:tcPr anchor="ctr"/>
                </a:tc>
                <a:tc>
                  <a:txBody>
                    <a:bodyPr/>
                    <a:lstStyle/>
                    <a:p>
                      <a:r>
                        <a:rPr lang="en-US" dirty="0" smtClean="0"/>
                        <a:t>Per-volume/array</a:t>
                      </a:r>
                      <a:endParaRPr lang="en-US" dirty="0"/>
                    </a:p>
                  </a:txBody>
                  <a:tcPr anchor="ctr"/>
                </a:tc>
                <a:tc>
                  <a:txBody>
                    <a:bodyPr/>
                    <a:lstStyle/>
                    <a:p>
                      <a:r>
                        <a:rPr lang="en-US" dirty="0" smtClean="0"/>
                        <a:t>Per file server/cluster</a:t>
                      </a:r>
                      <a:endParaRPr lang="en-US" dirty="0"/>
                    </a:p>
                  </a:txBody>
                  <a:tcPr anchor="ctr"/>
                </a:tc>
                <a:extLst>
                  <a:ext uri="{0D108BD9-81ED-4DB2-BD59-A6C34878D82A}">
                    <a16:rowId xmlns:a16="http://schemas.microsoft.com/office/drawing/2014/main" val="1947406389"/>
                  </a:ext>
                </a:extLst>
              </a:tr>
              <a:tr h="370840">
                <a:tc>
                  <a:txBody>
                    <a:bodyPr/>
                    <a:lstStyle/>
                    <a:p>
                      <a:r>
                        <a:rPr lang="en-US" dirty="0" smtClean="0"/>
                        <a:t>Best Use Cases</a:t>
                      </a:r>
                      <a:endParaRPr lang="en-US" dirty="0"/>
                    </a:p>
                  </a:txBody>
                  <a:tcPr anchor="ctr"/>
                </a:tc>
                <a:tc>
                  <a:txBody>
                    <a:bodyPr/>
                    <a:lstStyle/>
                    <a:p>
                      <a:r>
                        <a:rPr lang="en-US" dirty="0" smtClean="0"/>
                        <a:t>Images, videos, logs, backups, data lakes, CDN</a:t>
                      </a:r>
                      <a:endParaRPr lang="en-US" dirty="0"/>
                    </a:p>
                  </a:txBody>
                  <a:tcPr anchor="ctr"/>
                </a:tc>
                <a:tc>
                  <a:txBody>
                    <a:bodyPr/>
                    <a:lstStyle/>
                    <a:p>
                      <a:r>
                        <a:rPr lang="en-US" dirty="0" smtClean="0"/>
                        <a:t>Databases, VM disks, transactional apps</a:t>
                      </a:r>
                      <a:endParaRPr lang="en-US" dirty="0"/>
                    </a:p>
                  </a:txBody>
                  <a:tcPr anchor="ctr"/>
                </a:tc>
                <a:tc>
                  <a:txBody>
                    <a:bodyPr/>
                    <a:lstStyle/>
                    <a:p>
                      <a:r>
                        <a:rPr lang="en-US" dirty="0" smtClean="0"/>
                        <a:t>Team shares, home </a:t>
                      </a:r>
                      <a:r>
                        <a:rPr lang="en-US" dirty="0" err="1" smtClean="0"/>
                        <a:t>dirs</a:t>
                      </a:r>
                      <a:r>
                        <a:rPr lang="en-US" dirty="0" smtClean="0"/>
                        <a:t>, app </a:t>
                      </a:r>
                      <a:r>
                        <a:rPr lang="en-US" dirty="0" err="1" smtClean="0"/>
                        <a:t>configs</a:t>
                      </a:r>
                      <a:endParaRPr lang="en-US" dirty="0"/>
                    </a:p>
                  </a:txBody>
                  <a:tcPr anchor="ctr"/>
                </a:tc>
                <a:extLst>
                  <a:ext uri="{0D108BD9-81ED-4DB2-BD59-A6C34878D82A}">
                    <a16:rowId xmlns:a16="http://schemas.microsoft.com/office/drawing/2014/main" val="1983003657"/>
                  </a:ext>
                </a:extLst>
              </a:tr>
              <a:tr h="370840">
                <a:tc>
                  <a:txBody>
                    <a:bodyPr/>
                    <a:lstStyle/>
                    <a:p>
                      <a:r>
                        <a:rPr lang="en-US" dirty="0" smtClean="0"/>
                        <a:t>Examples/Tools</a:t>
                      </a:r>
                      <a:endParaRPr lang="en-US" dirty="0"/>
                    </a:p>
                  </a:txBody>
                  <a:tcPr anchor="ctr"/>
                </a:tc>
                <a:tc>
                  <a:txBody>
                    <a:bodyPr/>
                    <a:lstStyle/>
                    <a:p>
                      <a:r>
                        <a:rPr lang="en-US" dirty="0" smtClean="0"/>
                        <a:t>Amazon </a:t>
                      </a:r>
                      <a:r>
                        <a:rPr lang="en-US" b="0" dirty="0" smtClean="0"/>
                        <a:t>S3, </a:t>
                      </a:r>
                      <a:r>
                        <a:rPr lang="en-US" dirty="0" smtClean="0"/>
                        <a:t>GCS, Azure Blob, </a:t>
                      </a:r>
                      <a:r>
                        <a:rPr lang="en-US" dirty="0" err="1" smtClean="0"/>
                        <a:t>MinIO</a:t>
                      </a:r>
                      <a:endParaRPr lang="en-US" dirty="0"/>
                    </a:p>
                  </a:txBody>
                  <a:tcPr anchor="ctr"/>
                </a:tc>
                <a:tc>
                  <a:txBody>
                    <a:bodyPr/>
                    <a:lstStyle/>
                    <a:p>
                      <a:r>
                        <a:rPr lang="en-US" dirty="0" smtClean="0"/>
                        <a:t>AWS </a:t>
                      </a:r>
                      <a:r>
                        <a:rPr lang="en-US" b="0" dirty="0" smtClean="0"/>
                        <a:t>EBS</a:t>
                      </a:r>
                      <a:r>
                        <a:rPr lang="en-US" dirty="0" smtClean="0"/>
                        <a:t>, on-</a:t>
                      </a:r>
                      <a:r>
                        <a:rPr lang="en-US" dirty="0" err="1" smtClean="0"/>
                        <a:t>prem</a:t>
                      </a:r>
                      <a:r>
                        <a:rPr lang="en-US" dirty="0" smtClean="0"/>
                        <a:t> SAN</a:t>
                      </a:r>
                      <a:endParaRPr lang="en-US" dirty="0"/>
                    </a:p>
                  </a:txBody>
                  <a:tcPr anchor="ctr"/>
                </a:tc>
                <a:tc>
                  <a:txBody>
                    <a:bodyPr/>
                    <a:lstStyle/>
                    <a:p>
                      <a:r>
                        <a:rPr lang="en-US" b="0" dirty="0" smtClean="0"/>
                        <a:t>NFS/SMB</a:t>
                      </a:r>
                      <a:r>
                        <a:rPr lang="en-US" dirty="0" smtClean="0"/>
                        <a:t>, AWS </a:t>
                      </a:r>
                      <a:r>
                        <a:rPr lang="en-US" b="0" dirty="0" smtClean="0"/>
                        <a:t>EFS</a:t>
                      </a:r>
                      <a:r>
                        <a:rPr lang="en-US" dirty="0" smtClean="0"/>
                        <a:t>, Azure Files</a:t>
                      </a:r>
                      <a:endParaRPr lang="en-US" dirty="0"/>
                    </a:p>
                  </a:txBody>
                  <a:tcPr anchor="ctr"/>
                </a:tc>
                <a:extLst>
                  <a:ext uri="{0D108BD9-81ED-4DB2-BD59-A6C34878D82A}">
                    <a16:rowId xmlns:a16="http://schemas.microsoft.com/office/drawing/2014/main" val="719010608"/>
                  </a:ext>
                </a:extLst>
              </a:tr>
              <a:tr h="370840">
                <a:tc>
                  <a:txBody>
                    <a:bodyPr/>
                    <a:lstStyle/>
                    <a:p>
                      <a:endParaRPr lang="en-US"/>
                    </a:p>
                  </a:txBody>
                  <a:tcPr anchor="ctr"/>
                </a:tc>
                <a:tc>
                  <a:txBody>
                    <a:bodyPr/>
                    <a:lstStyle/>
                    <a:p>
                      <a:endParaRPr lang="en-US" dirty="0"/>
                    </a:p>
                  </a:txBody>
                  <a:tcPr anchor="ctr"/>
                </a:tc>
                <a:tc>
                  <a:txBody>
                    <a:bodyPr/>
                    <a:lstStyle/>
                    <a:p>
                      <a:endParaRPr lang="en-US"/>
                    </a:p>
                  </a:txBody>
                  <a:tcPr anchor="ctr"/>
                </a:tc>
                <a:tc>
                  <a:txBody>
                    <a:bodyPr/>
                    <a:lstStyle/>
                    <a:p>
                      <a:endParaRPr lang="en-US" dirty="0"/>
                    </a:p>
                  </a:txBody>
                  <a:tcPr anchor="ctr"/>
                </a:tc>
                <a:extLst>
                  <a:ext uri="{0D108BD9-81ED-4DB2-BD59-A6C34878D82A}">
                    <a16:rowId xmlns:a16="http://schemas.microsoft.com/office/drawing/2014/main" val="4232731021"/>
                  </a:ext>
                </a:extLst>
              </a:tr>
            </a:tbl>
          </a:graphicData>
        </a:graphic>
      </p:graphicFrame>
    </p:spTree>
    <p:extLst>
      <p:ext uri="{BB962C8B-B14F-4D97-AF65-F5344CB8AC3E}">
        <p14:creationId xmlns:p14="http://schemas.microsoft.com/office/powerpoint/2010/main" val="15220172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 Introduction to S3</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395926" y="1582341"/>
            <a:ext cx="7739406" cy="4401205"/>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Definition:</a:t>
            </a:r>
          </a:p>
          <a:p>
            <a:r>
              <a:rPr lang="en-US" sz="2000" dirty="0" smtClean="0">
                <a:solidFill>
                  <a:schemeClr val="bg1"/>
                </a:solidFill>
                <a:latin typeface="Times New Roman" panose="02020603050405020304" pitchFamily="18" charset="0"/>
                <a:cs typeface="Times New Roman" panose="02020603050405020304" pitchFamily="18" charset="0"/>
              </a:rPr>
              <a:t>AWS S3 (Simple Storage Service) is a cloud-based object storage service that lets you store, manage, and retrieve large amounts of data files, images, videos, and backups securely and at scale. It offers high reliability and massive scalability, making data accessible anywhere, anytime over the internet.</a:t>
            </a:r>
          </a:p>
          <a:p>
            <a:endParaRPr lang="en-US" sz="2000" dirty="0" smtClean="0">
              <a:solidFill>
                <a:schemeClr val="bg1"/>
              </a:solidFill>
              <a:latin typeface="Times New Roman" panose="02020603050405020304" pitchFamily="18" charset="0"/>
              <a:cs typeface="Times New Roman" panose="02020603050405020304" pitchFamily="18" charset="0"/>
            </a:endParaRPr>
          </a:p>
          <a:p>
            <a:r>
              <a:rPr lang="en-US" sz="2000" b="1" dirty="0" smtClean="0">
                <a:solidFill>
                  <a:schemeClr val="bg1"/>
                </a:solidFill>
                <a:latin typeface="Times New Roman" panose="02020603050405020304" pitchFamily="18" charset="0"/>
                <a:cs typeface="Times New Roman" panose="02020603050405020304" pitchFamily="18" charset="0"/>
              </a:rPr>
              <a:t>Core Concepts:</a:t>
            </a:r>
          </a:p>
          <a:p>
            <a:pPr marL="342900" indent="-342900">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Store data as objects inside buckets.</a:t>
            </a:r>
          </a:p>
          <a:p>
            <a:pPr marL="342900" indent="-342900">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Bucket name is globally unique (across all AWS accounts).Region-specific: each bucket lives in a chosen AWS Region.</a:t>
            </a:r>
          </a:p>
          <a:p>
            <a:pPr marL="342900" indent="-342900">
              <a:buFont typeface="Arial" panose="020B0604020202020204" pitchFamily="34" charset="0"/>
              <a:buChar char="•"/>
            </a:pPr>
            <a:r>
              <a:rPr lang="en-US" sz="2000" b="1" dirty="0" smtClean="0">
                <a:solidFill>
                  <a:schemeClr val="bg1"/>
                </a:solidFill>
                <a:latin typeface="Times New Roman" panose="02020603050405020304" pitchFamily="18" charset="0"/>
                <a:cs typeface="Times New Roman" panose="02020603050405020304" pitchFamily="18" charset="0"/>
              </a:rPr>
              <a:t>Object</a:t>
            </a:r>
            <a:r>
              <a:rPr lang="en-US" sz="2000" dirty="0" smtClean="0">
                <a:solidFill>
                  <a:schemeClr val="bg1"/>
                </a:solidFill>
                <a:latin typeface="Times New Roman" panose="02020603050405020304" pitchFamily="18" charset="0"/>
                <a:cs typeface="Times New Roman" panose="02020603050405020304" pitchFamily="18" charset="0"/>
              </a:rPr>
              <a:t> = key–value pair:</a:t>
            </a:r>
          </a:p>
          <a:p>
            <a:r>
              <a:rPr lang="en-US" sz="2000" dirty="0" smtClean="0">
                <a:solidFill>
                  <a:schemeClr val="bg1"/>
                </a:solidFill>
                <a:latin typeface="Times New Roman" panose="02020603050405020304" pitchFamily="18" charset="0"/>
                <a:cs typeface="Times New Roman" panose="02020603050405020304" pitchFamily="18" charset="0"/>
              </a:rPr>
              <a:t>              Key: the object’s unique name (can include “/” to mimic folders). </a:t>
            </a:r>
          </a:p>
          <a:p>
            <a:r>
              <a:rPr lang="en-US" sz="2000" dirty="0">
                <a:solidFill>
                  <a:schemeClr val="bg1"/>
                </a:solidFill>
                <a:latin typeface="Times New Roman" panose="02020603050405020304" pitchFamily="18" charset="0"/>
                <a:cs typeface="Times New Roman" panose="02020603050405020304" pitchFamily="18" charset="0"/>
              </a:rPr>
              <a:t> </a:t>
            </a:r>
            <a:r>
              <a:rPr lang="en-US" sz="2000" dirty="0" smtClean="0">
                <a:solidFill>
                  <a:schemeClr val="bg1"/>
                </a:solidFill>
                <a:latin typeface="Times New Roman" panose="02020603050405020304" pitchFamily="18" charset="0"/>
                <a:cs typeface="Times New Roman" panose="02020603050405020304" pitchFamily="18" charset="0"/>
              </a:rPr>
              <a:t>             Value: the object’s content (the actual file/data).</a:t>
            </a:r>
            <a:endParaRPr lang="en-US" sz="2000"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135333" y="2885998"/>
            <a:ext cx="3629320" cy="279178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8005995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 Features of Amazon S3 </a:t>
            </a:r>
            <a:endParaRPr lang="en-US" sz="2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050491" y="1885428"/>
            <a:ext cx="3959258" cy="3877002"/>
          </a:xfrm>
          <a:prstGeom prst="ellipse">
            <a:avLst/>
          </a:prstGeom>
          <a:ln w="63500" cap="rnd">
            <a:solidFill>
              <a:srgbClr val="6B131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Rectangle 3"/>
          <p:cNvSpPr/>
          <p:nvPr/>
        </p:nvSpPr>
        <p:spPr>
          <a:xfrm>
            <a:off x="122549" y="1007773"/>
            <a:ext cx="7418895" cy="563231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Data Protection </a:t>
            </a:r>
          </a:p>
          <a:p>
            <a:r>
              <a:rPr lang="en-US" dirty="0" smtClean="0">
                <a:solidFill>
                  <a:schemeClr val="bg1"/>
                </a:solidFill>
                <a:latin typeface="Times New Roman" panose="02020603050405020304" pitchFamily="18" charset="0"/>
                <a:cs typeface="Times New Roman" panose="02020603050405020304" pitchFamily="18" charset="0"/>
              </a:rPr>
              <a:t>S3 keeps your data safe and backed up. It can encrypt files and copy them across zones so you don’t lose them. </a:t>
            </a:r>
            <a:r>
              <a:rPr lang="en-US" b="1" dirty="0" smtClean="0">
                <a:solidFill>
                  <a:schemeClr val="bg1"/>
                </a:solidFill>
                <a:latin typeface="Times New Roman" panose="02020603050405020304" pitchFamily="18" charset="0"/>
                <a:cs typeface="Times New Roman" panose="02020603050405020304" pitchFamily="18" charset="0"/>
              </a:rPr>
              <a:t>Example:</a:t>
            </a:r>
            <a:r>
              <a:rPr lang="en-US" dirty="0" smtClean="0">
                <a:solidFill>
                  <a:schemeClr val="bg1"/>
                </a:solidFill>
                <a:latin typeface="Times New Roman" panose="02020603050405020304" pitchFamily="18" charset="0"/>
                <a:cs typeface="Times New Roman" panose="02020603050405020304" pitchFamily="18" charset="0"/>
              </a:rPr>
              <a:t> photos are encrypted and still safe if one data center has an issue.</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Data Consistency </a:t>
            </a:r>
          </a:p>
          <a:p>
            <a:r>
              <a:rPr lang="en-US" dirty="0" smtClean="0">
                <a:solidFill>
                  <a:schemeClr val="bg1"/>
                </a:solidFill>
                <a:latin typeface="Times New Roman" panose="02020603050405020304" pitchFamily="18" charset="0"/>
                <a:cs typeface="Times New Roman" panose="02020603050405020304" pitchFamily="18" charset="0"/>
              </a:rPr>
              <a:t>When you upload or change a file, you see the latest version right away. </a:t>
            </a:r>
            <a:r>
              <a:rPr lang="en-US" b="1" dirty="0" smtClean="0">
                <a:solidFill>
                  <a:schemeClr val="bg1"/>
                </a:solidFill>
                <a:latin typeface="Times New Roman" panose="02020603050405020304" pitchFamily="18" charset="0"/>
                <a:cs typeface="Times New Roman" panose="02020603050405020304" pitchFamily="18" charset="0"/>
              </a:rPr>
              <a:t>Example:</a:t>
            </a:r>
            <a:r>
              <a:rPr lang="en-US" dirty="0" smtClean="0">
                <a:solidFill>
                  <a:schemeClr val="bg1"/>
                </a:solidFill>
                <a:latin typeface="Times New Roman" panose="02020603050405020304" pitchFamily="18" charset="0"/>
                <a:cs typeface="Times New Roman" panose="02020603050405020304" pitchFamily="18" charset="0"/>
              </a:rPr>
              <a:t> upload logo.png and a GET shows the new logo immediately.</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Lifecycle Management </a:t>
            </a:r>
          </a:p>
          <a:p>
            <a:r>
              <a:rPr lang="en-US" dirty="0" smtClean="0">
                <a:solidFill>
                  <a:schemeClr val="bg1"/>
                </a:solidFill>
                <a:latin typeface="Times New Roman" panose="02020603050405020304" pitchFamily="18" charset="0"/>
                <a:cs typeface="Times New Roman" panose="02020603050405020304" pitchFamily="18" charset="0"/>
              </a:rPr>
              <a:t>S3 can auto-move old files to cheaper storage or delete them after some days to save cost</a:t>
            </a:r>
            <a:r>
              <a:rPr lang="en-US" b="1" dirty="0" smtClean="0">
                <a:solidFill>
                  <a:schemeClr val="bg1"/>
                </a:solidFill>
                <a:latin typeface="Times New Roman" panose="02020603050405020304" pitchFamily="18" charset="0"/>
                <a:cs typeface="Times New Roman" panose="02020603050405020304" pitchFamily="18" charset="0"/>
              </a:rPr>
              <a:t>. Example: </a:t>
            </a:r>
            <a:r>
              <a:rPr lang="en-US" dirty="0" smtClean="0">
                <a:solidFill>
                  <a:schemeClr val="bg1"/>
                </a:solidFill>
                <a:latin typeface="Times New Roman" panose="02020603050405020304" pitchFamily="18" charset="0"/>
                <a:cs typeface="Times New Roman" panose="02020603050405020304" pitchFamily="18" charset="0"/>
              </a:rPr>
              <a:t>keep logs 30 days in Standard, then move to Glacier.</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Versioning </a:t>
            </a:r>
          </a:p>
          <a:p>
            <a:r>
              <a:rPr lang="en-US" dirty="0" smtClean="0">
                <a:solidFill>
                  <a:schemeClr val="bg1"/>
                </a:solidFill>
                <a:latin typeface="Times New Roman" panose="02020603050405020304" pitchFamily="18" charset="0"/>
                <a:cs typeface="Times New Roman" panose="02020603050405020304" pitchFamily="18" charset="0"/>
              </a:rPr>
              <a:t>S3 can keep older copies of the same file so you can undo mistakes. </a:t>
            </a:r>
            <a:r>
              <a:rPr lang="en-US" b="1" dirty="0" smtClean="0">
                <a:solidFill>
                  <a:schemeClr val="bg1"/>
                </a:solidFill>
                <a:latin typeface="Times New Roman" panose="02020603050405020304" pitchFamily="18" charset="0"/>
                <a:cs typeface="Times New Roman" panose="02020603050405020304" pitchFamily="18" charset="0"/>
              </a:rPr>
              <a:t>Example:</a:t>
            </a:r>
            <a:r>
              <a:rPr lang="en-US" dirty="0" smtClean="0">
                <a:solidFill>
                  <a:schemeClr val="bg1"/>
                </a:solidFill>
                <a:latin typeface="Times New Roman" panose="02020603050405020304" pitchFamily="18" charset="0"/>
                <a:cs typeface="Times New Roman" panose="02020603050405020304" pitchFamily="18" charset="0"/>
              </a:rPr>
              <a:t> if report.pdf is overwritten, restore an older version.</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Access Control </a:t>
            </a:r>
          </a:p>
          <a:p>
            <a:r>
              <a:rPr lang="en-US" dirty="0" smtClean="0">
                <a:solidFill>
                  <a:schemeClr val="bg1"/>
                </a:solidFill>
                <a:latin typeface="Times New Roman" panose="02020603050405020304" pitchFamily="18" charset="0"/>
                <a:cs typeface="Times New Roman" panose="02020603050405020304" pitchFamily="18" charset="0"/>
              </a:rPr>
              <a:t>You decide who can read or write your files using rules. </a:t>
            </a:r>
            <a:r>
              <a:rPr lang="en-US" b="1" dirty="0" smtClean="0">
                <a:solidFill>
                  <a:schemeClr val="bg1"/>
                </a:solidFill>
                <a:latin typeface="Times New Roman" panose="02020603050405020304" pitchFamily="18" charset="0"/>
                <a:cs typeface="Times New Roman" panose="02020603050405020304" pitchFamily="18" charset="0"/>
              </a:rPr>
              <a:t>Example:</a:t>
            </a:r>
            <a:r>
              <a:rPr lang="en-US" dirty="0" smtClean="0">
                <a:solidFill>
                  <a:schemeClr val="bg1"/>
                </a:solidFill>
                <a:latin typeface="Times New Roman" panose="02020603050405020304" pitchFamily="18" charset="0"/>
                <a:cs typeface="Times New Roman" panose="02020603050405020304" pitchFamily="18" charset="0"/>
              </a:rPr>
              <a:t> only your app’s IAM role can read the logs/ folder; public access is blocked.</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26709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5117" y="948690"/>
            <a:ext cx="7934227" cy="5909310"/>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Scalability </a:t>
            </a:r>
          </a:p>
          <a:p>
            <a:r>
              <a:rPr lang="en-US" dirty="0" smtClean="0">
                <a:solidFill>
                  <a:schemeClr val="bg1"/>
                </a:solidFill>
                <a:latin typeface="Times New Roman" panose="02020603050405020304" pitchFamily="18" charset="0"/>
                <a:cs typeface="Times New Roman" panose="02020603050405020304" pitchFamily="18" charset="0"/>
              </a:rPr>
              <a:t>starts small and can grow to huge sizes; can handle lots of users and requests at the same time.</a:t>
            </a:r>
          </a:p>
          <a:p>
            <a:r>
              <a:rPr lang="en-US" b="1" dirty="0" smtClean="0">
                <a:solidFill>
                  <a:schemeClr val="bg1"/>
                </a:solidFill>
                <a:latin typeface="Times New Roman" panose="02020603050405020304" pitchFamily="18" charset="0"/>
                <a:cs typeface="Times New Roman" panose="02020603050405020304" pitchFamily="18" charset="0"/>
              </a:rPr>
              <a:t>Durability and availability</a:t>
            </a:r>
            <a:r>
              <a:rPr lang="en-US" dirty="0" smtClean="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latin typeface="Times New Roman" panose="02020603050405020304" pitchFamily="18" charset="0"/>
                <a:cs typeface="Times New Roman" panose="02020603050405020304" pitchFamily="18" charset="0"/>
              </a:rPr>
              <a:t>D</a:t>
            </a:r>
            <a:r>
              <a:rPr lang="en-US" dirty="0" smtClean="0">
                <a:solidFill>
                  <a:schemeClr val="bg1"/>
                </a:solidFill>
                <a:latin typeface="Times New Roman" panose="02020603050405020304" pitchFamily="18" charset="0"/>
                <a:cs typeface="Times New Roman" panose="02020603050405020304" pitchFamily="18" charset="0"/>
              </a:rPr>
              <a:t>esigned for 99.999999999% durability; data is copied across multiple availability zones in the same region.</a:t>
            </a:r>
          </a:p>
          <a:p>
            <a:r>
              <a:rPr lang="en-US" b="1" dirty="0" smtClean="0">
                <a:solidFill>
                  <a:schemeClr val="bg1"/>
                </a:solidFill>
                <a:latin typeface="Times New Roman" panose="02020603050405020304" pitchFamily="18" charset="0"/>
                <a:cs typeface="Times New Roman" panose="02020603050405020304" pitchFamily="18" charset="0"/>
              </a:rPr>
              <a:t>Cost-effective</a:t>
            </a:r>
            <a:r>
              <a:rPr lang="en-US" dirty="0" smtClean="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latin typeface="Times New Roman" panose="02020603050405020304" pitchFamily="18" charset="0"/>
                <a:cs typeface="Times New Roman" panose="02020603050405020304" pitchFamily="18" charset="0"/>
              </a:rPr>
              <a:t>P</a:t>
            </a:r>
            <a:r>
              <a:rPr lang="en-US" dirty="0" smtClean="0">
                <a:solidFill>
                  <a:schemeClr val="bg1"/>
                </a:solidFill>
                <a:latin typeface="Times New Roman" panose="02020603050405020304" pitchFamily="18" charset="0"/>
                <a:cs typeface="Times New Roman" panose="02020603050405020304" pitchFamily="18" charset="0"/>
              </a:rPr>
              <a:t>ay only for what you use; cheaper storage classes for old or rarely used data with lifecycle rules to move or delete automatically.</a:t>
            </a:r>
          </a:p>
          <a:p>
            <a:r>
              <a:rPr lang="en-US" b="1" dirty="0" smtClean="0">
                <a:solidFill>
                  <a:schemeClr val="bg1"/>
                </a:solidFill>
                <a:latin typeface="Times New Roman" panose="02020603050405020304" pitchFamily="18" charset="0"/>
                <a:cs typeface="Times New Roman" panose="02020603050405020304" pitchFamily="18" charset="0"/>
              </a:rPr>
              <a:t>Data management </a:t>
            </a:r>
            <a:endParaRPr lang="en-US" dirty="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Versioning to undo mistakes, lifecycle policies to save cost, replication to another bucket or region, event notifications to trigger actions.</a:t>
            </a:r>
          </a:p>
          <a:p>
            <a:r>
              <a:rPr lang="en-US" b="1" dirty="0" smtClean="0">
                <a:solidFill>
                  <a:schemeClr val="bg1"/>
                </a:solidFill>
                <a:latin typeface="Times New Roman" panose="02020603050405020304" pitchFamily="18" charset="0"/>
                <a:cs typeface="Times New Roman" panose="02020603050405020304" pitchFamily="18" charset="0"/>
              </a:rPr>
              <a:t>Integration with AWS </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W</a:t>
            </a:r>
            <a:r>
              <a:rPr lang="en-US" dirty="0" smtClean="0">
                <a:solidFill>
                  <a:schemeClr val="bg1"/>
                </a:solidFill>
                <a:latin typeface="Times New Roman" panose="02020603050405020304" pitchFamily="18" charset="0"/>
                <a:cs typeface="Times New Roman" panose="02020603050405020304" pitchFamily="18" charset="0"/>
              </a:rPr>
              <a:t>orks smoothly with Lambda, Athena, Glue, Redshift, </a:t>
            </a:r>
            <a:r>
              <a:rPr lang="en-US" dirty="0" err="1" smtClean="0">
                <a:solidFill>
                  <a:schemeClr val="bg1"/>
                </a:solidFill>
                <a:latin typeface="Times New Roman" panose="02020603050405020304" pitchFamily="18" charset="0"/>
                <a:cs typeface="Times New Roman" panose="02020603050405020304" pitchFamily="18" charset="0"/>
              </a:rPr>
              <a:t>SageMaker</a:t>
            </a:r>
            <a:r>
              <a:rPr lang="en-US" dirty="0" smtClean="0">
                <a:solidFill>
                  <a:schemeClr val="bg1"/>
                </a:solidFill>
                <a:latin typeface="Times New Roman" panose="02020603050405020304" pitchFamily="18" charset="0"/>
                <a:cs typeface="Times New Roman" panose="02020603050405020304" pitchFamily="18" charset="0"/>
              </a:rPr>
              <a:t>, and </a:t>
            </a:r>
            <a:r>
              <a:rPr lang="en-US" dirty="0" err="1" smtClean="0">
                <a:solidFill>
                  <a:schemeClr val="bg1"/>
                </a:solidFill>
                <a:latin typeface="Times New Roman" panose="02020603050405020304" pitchFamily="18" charset="0"/>
                <a:cs typeface="Times New Roman" panose="02020603050405020304" pitchFamily="18" charset="0"/>
              </a:rPr>
              <a:t>CloudFront</a:t>
            </a:r>
            <a:r>
              <a:rPr lang="en-US" dirty="0" smtClean="0">
                <a:solidFill>
                  <a:schemeClr val="bg1"/>
                </a:solidFill>
                <a:latin typeface="Times New Roman" panose="02020603050405020304" pitchFamily="18" charset="0"/>
                <a:cs typeface="Times New Roman" panose="02020603050405020304" pitchFamily="18" charset="0"/>
              </a:rPr>
              <a:t> for </a:t>
            </a:r>
            <a:r>
              <a:rPr lang="en-US" dirty="0" err="1" smtClean="0">
                <a:solidFill>
                  <a:schemeClr val="bg1"/>
                </a:solidFill>
                <a:latin typeface="Times New Roman" panose="02020603050405020304" pitchFamily="18" charset="0"/>
                <a:cs typeface="Times New Roman" panose="02020603050405020304" pitchFamily="18" charset="0"/>
              </a:rPr>
              <a:t>serverless</a:t>
            </a:r>
            <a:r>
              <a:rPr lang="en-US" dirty="0" smtClean="0">
                <a:solidFill>
                  <a:schemeClr val="bg1"/>
                </a:solidFill>
                <a:latin typeface="Times New Roman" panose="02020603050405020304" pitchFamily="18" charset="0"/>
                <a:cs typeface="Times New Roman" panose="02020603050405020304" pitchFamily="18" charset="0"/>
              </a:rPr>
              <a:t> apps, analytics, ML, and CDN.</a:t>
            </a:r>
          </a:p>
          <a:p>
            <a:r>
              <a:rPr lang="en-US" b="1" dirty="0" smtClean="0">
                <a:solidFill>
                  <a:schemeClr val="bg1"/>
                </a:solidFill>
                <a:latin typeface="Times New Roman" panose="02020603050405020304" pitchFamily="18" charset="0"/>
                <a:cs typeface="Times New Roman" panose="02020603050405020304" pitchFamily="18" charset="0"/>
              </a:rPr>
              <a:t>Supports unstructured data </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S</a:t>
            </a:r>
            <a:r>
              <a:rPr lang="en-US" dirty="0" smtClean="0">
                <a:solidFill>
                  <a:schemeClr val="bg1"/>
                </a:solidFill>
                <a:latin typeface="Times New Roman" panose="02020603050405020304" pitchFamily="18" charset="0"/>
                <a:cs typeface="Times New Roman" panose="02020603050405020304" pitchFamily="18" charset="0"/>
              </a:rPr>
              <a:t>tore any file type up to 5 TB (images, videos, logs, backups) and access over the internet via HTTP/HTTPS.</a:t>
            </a:r>
          </a:p>
          <a:p>
            <a:r>
              <a:rPr lang="en-US" b="1" dirty="0" smtClean="0">
                <a:solidFill>
                  <a:schemeClr val="bg1"/>
                </a:solidFill>
                <a:latin typeface="Times New Roman" panose="02020603050405020304" pitchFamily="18" charset="0"/>
                <a:cs typeface="Times New Roman" panose="02020603050405020304" pitchFamily="18" charset="0"/>
              </a:rPr>
              <a:t>Access control and security </a:t>
            </a:r>
          </a:p>
          <a:p>
            <a:r>
              <a:rPr lang="en-US" dirty="0" smtClean="0">
                <a:solidFill>
                  <a:schemeClr val="bg1"/>
                </a:solidFill>
                <a:latin typeface="Times New Roman" panose="02020603050405020304" pitchFamily="18" charset="0"/>
                <a:cs typeface="Times New Roman" panose="02020603050405020304" pitchFamily="18" charset="0"/>
              </a:rPr>
              <a:t>control who can read or write using IAM and bucket policies; block public access by default; data can be encrypted with SSE-S3 or SSE-KMS.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atin typeface="Times New Roman" panose="02020603050405020304" pitchFamily="18" charset="0"/>
                <a:cs typeface="Times New Roman" panose="02020603050405020304" pitchFamily="18" charset="0"/>
              </a:rPr>
              <a:t> Why to choose S3?</a:t>
            </a:r>
            <a:endParaRPr lang="en-US" sz="28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8069344" y="2149310"/>
            <a:ext cx="4070760" cy="3676455"/>
          </a:xfrm>
          <a:prstGeom prst="ellipse">
            <a:avLst/>
          </a:prstGeom>
          <a:ln w="63500" cap="rnd">
            <a:solidFill>
              <a:srgbClr val="6B131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7440447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a:latin typeface="Times New Roman" panose="02020603050405020304" pitchFamily="18" charset="0"/>
                <a:cs typeface="Times New Roman" panose="02020603050405020304" pitchFamily="18" charset="0"/>
              </a:rPr>
              <a:t>Creating Your First S3 Bucket</a:t>
            </a:r>
          </a:p>
        </p:txBody>
      </p:sp>
      <p:sp>
        <p:nvSpPr>
          <p:cNvPr id="3" name="Rectangle 2"/>
          <p:cNvSpPr/>
          <p:nvPr/>
        </p:nvSpPr>
        <p:spPr>
          <a:xfrm>
            <a:off x="147687" y="933255"/>
            <a:ext cx="11896626" cy="5755422"/>
          </a:xfrm>
          <a:prstGeom prst="rect">
            <a:avLst/>
          </a:prstGeom>
        </p:spPr>
        <p:txBody>
          <a:bodyPr wrap="square">
            <a:spAutoFit/>
          </a:bodyPr>
          <a:lstStyle/>
          <a:p>
            <a:endParaRPr lang="en-US" sz="1600"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Sign in to the AWS Management Console</a:t>
            </a:r>
          </a:p>
          <a:p>
            <a:r>
              <a:rPr lang="en-US" sz="1600" dirty="0" smtClean="0">
                <a:solidFill>
                  <a:schemeClr val="bg1"/>
                </a:solidFill>
                <a:latin typeface="Times New Roman" panose="02020603050405020304" pitchFamily="18" charset="0"/>
                <a:cs typeface="Times New Roman" panose="02020603050405020304" pitchFamily="18" charset="0"/>
              </a:rPr>
              <a:t>Open console.aws.amazon.com and log in with your AWS account. Make sure you’re in the right account if you use multiple.</a:t>
            </a:r>
          </a:p>
          <a:p>
            <a:r>
              <a:rPr lang="en-US" b="1" dirty="0" smtClean="0">
                <a:solidFill>
                  <a:schemeClr val="bg1"/>
                </a:solidFill>
                <a:latin typeface="Times New Roman" panose="02020603050405020304" pitchFamily="18" charset="0"/>
                <a:cs typeface="Times New Roman" panose="02020603050405020304" pitchFamily="18" charset="0"/>
              </a:rPr>
              <a:t>Open Services → S3</a:t>
            </a:r>
          </a:p>
          <a:p>
            <a:r>
              <a:rPr lang="en-US" sz="1600" dirty="0" smtClean="0">
                <a:solidFill>
                  <a:schemeClr val="bg1"/>
                </a:solidFill>
                <a:latin typeface="Times New Roman" panose="02020603050405020304" pitchFamily="18" charset="0"/>
                <a:cs typeface="Times New Roman" panose="02020603050405020304" pitchFamily="18" charset="0"/>
              </a:rPr>
              <a:t> In the top menu, choose Services, then select S3 under Storage. You’ll land on the S3 buckets page.</a:t>
            </a:r>
          </a:p>
          <a:p>
            <a:r>
              <a:rPr lang="en-US" b="1" dirty="0" smtClean="0">
                <a:solidFill>
                  <a:schemeClr val="bg1"/>
                </a:solidFill>
                <a:latin typeface="Times New Roman" panose="02020603050405020304" pitchFamily="18" charset="0"/>
                <a:cs typeface="Times New Roman" panose="02020603050405020304" pitchFamily="18" charset="0"/>
              </a:rPr>
              <a:t>Click Create bucket</a:t>
            </a:r>
          </a:p>
          <a:p>
            <a:r>
              <a:rPr lang="en-US" sz="1600" dirty="0" smtClean="0">
                <a:solidFill>
                  <a:schemeClr val="bg1"/>
                </a:solidFill>
                <a:latin typeface="Times New Roman" panose="02020603050405020304" pitchFamily="18" charset="0"/>
                <a:cs typeface="Times New Roman" panose="02020603050405020304" pitchFamily="18" charset="0"/>
              </a:rPr>
              <a:t>This starts the bucket setup wizard where you choose name, region, and options.</a:t>
            </a:r>
          </a:p>
          <a:p>
            <a:r>
              <a:rPr lang="en-US" b="1" dirty="0" smtClean="0">
                <a:solidFill>
                  <a:schemeClr val="bg1"/>
                </a:solidFill>
                <a:latin typeface="Times New Roman" panose="02020603050405020304" pitchFamily="18" charset="0"/>
                <a:cs typeface="Times New Roman" panose="02020603050405020304" pitchFamily="18" charset="0"/>
              </a:rPr>
              <a:t>Enter a globally unique bucket name</a:t>
            </a:r>
          </a:p>
          <a:p>
            <a:r>
              <a:rPr lang="en-US" sz="1600" dirty="0" smtClean="0">
                <a:solidFill>
                  <a:schemeClr val="bg1"/>
                </a:solidFill>
                <a:latin typeface="Times New Roman" panose="02020603050405020304" pitchFamily="18" charset="0"/>
                <a:cs typeface="Times New Roman" panose="02020603050405020304" pitchFamily="18" charset="0"/>
              </a:rPr>
              <a:t>Use only lowercase letters, numbers, and hyphens; no spaces. The name must be unique worldwide (example: my-app-assets-prod).</a:t>
            </a:r>
          </a:p>
          <a:p>
            <a:r>
              <a:rPr lang="en-US" b="1" dirty="0" smtClean="0">
                <a:solidFill>
                  <a:schemeClr val="bg1"/>
                </a:solidFill>
                <a:latin typeface="Times New Roman" panose="02020603050405020304" pitchFamily="18" charset="0"/>
                <a:cs typeface="Times New Roman" panose="02020603050405020304" pitchFamily="18" charset="0"/>
              </a:rPr>
              <a:t>Choose a Region</a:t>
            </a:r>
          </a:p>
          <a:p>
            <a:r>
              <a:rPr lang="en-US" sz="1600" dirty="0" smtClean="0">
                <a:solidFill>
                  <a:schemeClr val="bg1"/>
                </a:solidFill>
                <a:latin typeface="Times New Roman" panose="02020603050405020304" pitchFamily="18" charset="0"/>
                <a:cs typeface="Times New Roman" panose="02020603050405020304" pitchFamily="18" charset="0"/>
              </a:rPr>
              <a:t>Pick the AWS Region closest to your main users or your compute to reduce latency and possibly cost. Data stays in that Region unless you enable replication.</a:t>
            </a:r>
          </a:p>
          <a:p>
            <a:r>
              <a:rPr lang="en-US" b="1" dirty="0" smtClean="0">
                <a:solidFill>
                  <a:schemeClr val="bg1"/>
                </a:solidFill>
                <a:latin typeface="Times New Roman" panose="02020603050405020304" pitchFamily="18" charset="0"/>
                <a:cs typeface="Times New Roman" panose="02020603050405020304" pitchFamily="18" charset="0"/>
              </a:rPr>
              <a:t>Configure options (optional)</a:t>
            </a:r>
          </a:p>
          <a:p>
            <a:pPr marL="285750" indent="-285750">
              <a:buFont typeface="Arial" panose="020B0604020202020204" pitchFamily="34" charset="0"/>
              <a:buChar char="•"/>
            </a:pPr>
            <a:r>
              <a:rPr lang="en-US" sz="1600" dirty="0" smtClean="0">
                <a:solidFill>
                  <a:schemeClr val="bg1"/>
                </a:solidFill>
                <a:latin typeface="Times New Roman" panose="02020603050405020304" pitchFamily="18" charset="0"/>
                <a:cs typeface="Times New Roman" panose="02020603050405020304" pitchFamily="18" charset="0"/>
              </a:rPr>
              <a:t>   Versioning: keep older copies to recover from mistakes.</a:t>
            </a:r>
          </a:p>
          <a:p>
            <a:pPr marL="285750" indent="-285750">
              <a:buFont typeface="Arial" panose="020B0604020202020204" pitchFamily="34" charset="0"/>
              <a:buChar char="•"/>
            </a:pPr>
            <a:r>
              <a:rPr lang="en-US" sz="1600" dirty="0" smtClean="0">
                <a:solidFill>
                  <a:schemeClr val="bg1"/>
                </a:solidFill>
                <a:latin typeface="Times New Roman" panose="02020603050405020304" pitchFamily="18" charset="0"/>
                <a:cs typeface="Times New Roman" panose="02020603050405020304" pitchFamily="18" charset="0"/>
              </a:rPr>
              <a:t>   Encryption: enable server-side encryption for default at-rest protection.</a:t>
            </a:r>
          </a:p>
          <a:p>
            <a:pPr marL="285750" indent="-285750">
              <a:buFont typeface="Arial" panose="020B0604020202020204" pitchFamily="34" charset="0"/>
              <a:buChar char="•"/>
            </a:pPr>
            <a:r>
              <a:rPr lang="en-US" sz="1600" dirty="0" smtClean="0">
                <a:solidFill>
                  <a:schemeClr val="bg1"/>
                </a:solidFill>
                <a:latin typeface="Times New Roman" panose="02020603050405020304" pitchFamily="18" charset="0"/>
                <a:cs typeface="Times New Roman" panose="02020603050405020304" pitchFamily="18" charset="0"/>
              </a:rPr>
              <a:t>   Tags: add key–value labels like project=website for cost tracking.</a:t>
            </a:r>
          </a:p>
          <a:p>
            <a:pPr marL="285750" indent="-285750">
              <a:buFont typeface="Arial" panose="020B0604020202020204" pitchFamily="34" charset="0"/>
              <a:buChar char="•"/>
            </a:pPr>
            <a:r>
              <a:rPr lang="en-US" sz="1600" dirty="0" smtClean="0">
                <a:solidFill>
                  <a:schemeClr val="bg1"/>
                </a:solidFill>
                <a:latin typeface="Times New Roman" panose="02020603050405020304" pitchFamily="18" charset="0"/>
                <a:cs typeface="Times New Roman" panose="02020603050405020304" pitchFamily="18" charset="0"/>
              </a:rPr>
              <a:t>   If unsure, you can leave defaults and change later.</a:t>
            </a:r>
          </a:p>
          <a:p>
            <a:r>
              <a:rPr lang="en-US" b="1" dirty="0" smtClean="0">
                <a:solidFill>
                  <a:schemeClr val="bg1"/>
                </a:solidFill>
                <a:latin typeface="Times New Roman" panose="02020603050405020304" pitchFamily="18" charset="0"/>
                <a:cs typeface="Times New Roman" panose="02020603050405020304" pitchFamily="18" charset="0"/>
              </a:rPr>
              <a:t>Set permissions</a:t>
            </a:r>
          </a:p>
          <a:p>
            <a:r>
              <a:rPr lang="en-US" sz="1600" dirty="0" smtClean="0">
                <a:solidFill>
                  <a:schemeClr val="bg1"/>
                </a:solidFill>
                <a:latin typeface="Times New Roman" panose="02020603050405020304" pitchFamily="18" charset="0"/>
                <a:cs typeface="Times New Roman" panose="02020603050405020304" pitchFamily="18" charset="0"/>
              </a:rPr>
              <a:t> Keep Block Public Access on to prevent unintended public reads. You can grant access later via IAM roles, bucket policies, or per-object settings.</a:t>
            </a:r>
          </a:p>
          <a:p>
            <a:r>
              <a:rPr lang="en-US" b="1" dirty="0" smtClean="0">
                <a:solidFill>
                  <a:schemeClr val="bg1"/>
                </a:solidFill>
                <a:latin typeface="Times New Roman" panose="02020603050405020304" pitchFamily="18" charset="0"/>
                <a:cs typeface="Times New Roman" panose="02020603050405020304" pitchFamily="18" charset="0"/>
              </a:rPr>
              <a:t>Review and create</a:t>
            </a:r>
          </a:p>
          <a:p>
            <a:r>
              <a:rPr lang="en-US" sz="1600" dirty="0" smtClean="0">
                <a:solidFill>
                  <a:schemeClr val="bg1"/>
                </a:solidFill>
                <a:latin typeface="Times New Roman" panose="02020603050405020304" pitchFamily="18" charset="0"/>
                <a:cs typeface="Times New Roman" panose="02020603050405020304" pitchFamily="18" charset="0"/>
              </a:rPr>
              <a:t> Check name, Region, options, and permissions. Click Create bucket to finish; your bucket appears in the list and is ready for uploads.</a:t>
            </a:r>
            <a:endParaRPr lang="en-US"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4755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a:latin typeface="Times New Roman" panose="02020603050405020304" pitchFamily="18" charset="0"/>
                <a:cs typeface="Times New Roman" panose="02020603050405020304" pitchFamily="18" charset="0"/>
              </a:rPr>
              <a:t>Managing Buckets and Objects via the AWS Console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519" y="1306887"/>
            <a:ext cx="11242673" cy="5373045"/>
          </a:xfrm>
          <a:prstGeom prst="rect">
            <a:avLst/>
          </a:prstGeom>
        </p:spPr>
      </p:pic>
    </p:spTree>
    <p:extLst>
      <p:ext uri="{BB962C8B-B14F-4D97-AF65-F5344CB8AC3E}">
        <p14:creationId xmlns:p14="http://schemas.microsoft.com/office/powerpoint/2010/main" val="14684263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a:latin typeface="Times New Roman" panose="02020603050405020304" pitchFamily="18" charset="0"/>
                <a:cs typeface="Times New Roman" panose="02020603050405020304" pitchFamily="18" charset="0"/>
              </a:rPr>
              <a:t>Managing Buckets and Objects via the AWS Console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385" y="1115622"/>
            <a:ext cx="11289172" cy="5654488"/>
          </a:xfrm>
          <a:prstGeom prst="rect">
            <a:avLst/>
          </a:prstGeom>
        </p:spPr>
      </p:pic>
    </p:spTree>
    <p:extLst>
      <p:ext uri="{BB962C8B-B14F-4D97-AF65-F5344CB8AC3E}">
        <p14:creationId xmlns:p14="http://schemas.microsoft.com/office/powerpoint/2010/main" val="293526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a:latin typeface="Times New Roman" panose="02020603050405020304" pitchFamily="18" charset="0"/>
                <a:cs typeface="Times New Roman" panose="02020603050405020304" pitchFamily="18" charset="0"/>
              </a:rPr>
              <a:t>Managing Buckets and Objects via the AWS Console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288" y="1060408"/>
            <a:ext cx="10153514" cy="5691714"/>
          </a:xfrm>
          <a:prstGeom prst="rect">
            <a:avLst/>
          </a:prstGeom>
        </p:spPr>
      </p:pic>
    </p:spTree>
    <p:extLst>
      <p:ext uri="{BB962C8B-B14F-4D97-AF65-F5344CB8AC3E}">
        <p14:creationId xmlns:p14="http://schemas.microsoft.com/office/powerpoint/2010/main" val="33525085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a:latin typeface="Times New Roman" panose="02020603050405020304" pitchFamily="18" charset="0"/>
                <a:cs typeface="Times New Roman" panose="02020603050405020304" pitchFamily="18" charset="0"/>
              </a:rPr>
              <a:t>Managing Buckets and Objects via the AWS Console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691" y="1087655"/>
            <a:ext cx="11295808" cy="5568215"/>
          </a:xfrm>
          <a:prstGeom prst="rect">
            <a:avLst/>
          </a:prstGeom>
        </p:spPr>
      </p:pic>
    </p:spTree>
    <p:extLst>
      <p:ext uri="{BB962C8B-B14F-4D97-AF65-F5344CB8AC3E}">
        <p14:creationId xmlns:p14="http://schemas.microsoft.com/office/powerpoint/2010/main" val="27610704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CRUD in Amazon S3 with Python (boto3)</a:t>
            </a:r>
            <a:endParaRPr lang="en-US" sz="28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09008" y="1084398"/>
            <a:ext cx="2313454" cy="369332"/>
          </a:xfrm>
          <a:prstGeom prst="rect">
            <a:avLst/>
          </a:prstGeom>
        </p:spPr>
        <p:txBody>
          <a:bodyPr wrap="none">
            <a:spAutoFit/>
          </a:bodyPr>
          <a:lstStyle/>
          <a:p>
            <a:r>
              <a:rPr lang="en-US" b="1" dirty="0">
                <a:solidFill>
                  <a:schemeClr val="bg1"/>
                </a:solidFill>
                <a:latin typeface="Times New Roman" panose="02020603050405020304" pitchFamily="18" charset="0"/>
                <a:cs typeface="Times New Roman" panose="02020603050405020304" pitchFamily="18" charset="0"/>
              </a:rPr>
              <a:t>Setup (assumed once)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327259" y="1684421"/>
            <a:ext cx="4610502" cy="1139179"/>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22971" y="1623271"/>
            <a:ext cx="6618973" cy="1200329"/>
          </a:xfrm>
          <a:prstGeom prst="rect">
            <a:avLst/>
          </a:prstGeom>
        </p:spPr>
        <p:txBody>
          <a:bodyPr wrap="square">
            <a:spAutoFit/>
          </a:bodyPr>
          <a:lstStyle/>
          <a:p>
            <a:r>
              <a:rPr lang="en-US" smtClean="0">
                <a:solidFill>
                  <a:schemeClr val="bg1"/>
                </a:solidFill>
                <a:latin typeface="Times New Roman" panose="02020603050405020304" pitchFamily="18" charset="0"/>
                <a:cs typeface="Times New Roman" panose="02020603050405020304" pitchFamily="18" charset="0"/>
              </a:rPr>
              <a:t>import boto3</a:t>
            </a:r>
          </a:p>
          <a:p>
            <a:r>
              <a:rPr lang="en-US" smtClean="0">
                <a:solidFill>
                  <a:schemeClr val="bg1"/>
                </a:solidFill>
                <a:latin typeface="Times New Roman" panose="02020603050405020304" pitchFamily="18" charset="0"/>
                <a:cs typeface="Times New Roman" panose="02020603050405020304" pitchFamily="18" charset="0"/>
              </a:rPr>
              <a:t>s3 = boto3.client("s3")</a:t>
            </a:r>
          </a:p>
          <a:p>
            <a:r>
              <a:rPr lang="en-US" smtClean="0">
                <a:solidFill>
                  <a:schemeClr val="bg1"/>
                </a:solidFill>
                <a:latin typeface="Times New Roman" panose="02020603050405020304" pitchFamily="18" charset="0"/>
                <a:cs typeface="Times New Roman" panose="02020603050405020304" pitchFamily="18" charset="0"/>
              </a:rPr>
              <a:t>bucket = "my-bucket"</a:t>
            </a:r>
          </a:p>
          <a:p>
            <a:r>
              <a:rPr lang="en-US" smtClean="0">
                <a:solidFill>
                  <a:schemeClr val="bg1"/>
                </a:solidFill>
                <a:latin typeface="Times New Roman" panose="02020603050405020304" pitchFamily="18" charset="0"/>
                <a:cs typeface="Times New Roman" panose="02020603050405020304" pitchFamily="18" charset="0"/>
              </a:rPr>
              <a:t>key = "uploads/2025/report.txt"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Rectangle 6"/>
          <p:cNvSpPr/>
          <p:nvPr/>
        </p:nvSpPr>
        <p:spPr>
          <a:xfrm>
            <a:off x="252321" y="3193296"/>
            <a:ext cx="3348032" cy="369332"/>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Create (upload a local file to S3)</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8" name="Rectangle 7"/>
          <p:cNvSpPr/>
          <p:nvPr/>
        </p:nvSpPr>
        <p:spPr>
          <a:xfrm>
            <a:off x="327258" y="3669417"/>
            <a:ext cx="4610503" cy="42057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bg1"/>
                </a:solidFill>
                <a:latin typeface="Times New Roman" panose="02020603050405020304" pitchFamily="18" charset="0"/>
                <a:cs typeface="Times New Roman" panose="02020603050405020304" pitchFamily="18" charset="0"/>
              </a:rPr>
              <a:t>s3.upload_file("report.txt", bucket, key)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9" name="Rectangle 8"/>
          <p:cNvSpPr/>
          <p:nvPr/>
        </p:nvSpPr>
        <p:spPr>
          <a:xfrm>
            <a:off x="252321" y="4129633"/>
            <a:ext cx="6384297" cy="646331"/>
          </a:xfrm>
          <a:prstGeom prst="rect">
            <a:avLst/>
          </a:prstGeom>
        </p:spPr>
        <p:txBody>
          <a:bodyPr wrap="square">
            <a:spAutoFit/>
          </a:bodyPr>
          <a:lstStyle/>
          <a:p>
            <a:r>
              <a:rPr lang="en-US" dirty="0" smtClean="0">
                <a:solidFill>
                  <a:schemeClr val="bg1"/>
                </a:solidFill>
                <a:latin typeface="Times New Roman" panose="02020603050405020304" pitchFamily="18" charset="0"/>
                <a:cs typeface="Times New Roman" panose="02020603050405020304" pitchFamily="18" charset="0"/>
              </a:rPr>
              <a:t>Example: uploads local file report.txt to s3://my-bucket/uploads/2025/report.txt.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209008" y="4965316"/>
            <a:ext cx="3903633" cy="369332"/>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Read (download an S3 object to local)</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27258" y="5402097"/>
            <a:ext cx="5419024" cy="42057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bg1"/>
                </a:solidFill>
                <a:latin typeface="Times New Roman" panose="02020603050405020304" pitchFamily="18" charset="0"/>
                <a:cs typeface="Times New Roman" panose="02020603050405020304" pitchFamily="18" charset="0"/>
              </a:rPr>
              <a:t>s3.download_file(bucket, key, "report_downloaded.txt")</a:t>
            </a:r>
          </a:p>
        </p:txBody>
      </p:sp>
      <p:sp>
        <p:nvSpPr>
          <p:cNvPr id="13" name="Rectangle 12"/>
          <p:cNvSpPr/>
          <p:nvPr/>
        </p:nvSpPr>
        <p:spPr>
          <a:xfrm>
            <a:off x="209008" y="5822669"/>
            <a:ext cx="6096000" cy="646331"/>
          </a:xfrm>
          <a:prstGeom prst="rect">
            <a:avLst/>
          </a:prstGeom>
        </p:spPr>
        <p:txBody>
          <a:bodyPr>
            <a:spAutoFit/>
          </a:bodyPr>
          <a:lstStyle/>
          <a:p>
            <a:r>
              <a:rPr lang="en-US" dirty="0" smtClean="0">
                <a:solidFill>
                  <a:schemeClr val="bg1"/>
                </a:solidFill>
                <a:latin typeface="Times New Roman" panose="02020603050405020304" pitchFamily="18" charset="0"/>
                <a:cs typeface="Times New Roman" panose="02020603050405020304" pitchFamily="18" charset="0"/>
              </a:rPr>
              <a:t>Example: saves s3://my-bucket/uploads/2025/report.txt as report_downloaded.txt on your machine.</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6515298" y="1169169"/>
            <a:ext cx="3602268" cy="369332"/>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Update (overwrite object contents)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5" name="Rectangle 14"/>
          <p:cNvSpPr/>
          <p:nvPr/>
        </p:nvSpPr>
        <p:spPr>
          <a:xfrm>
            <a:off x="6636618" y="1623271"/>
            <a:ext cx="4854344" cy="103330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bg1"/>
                </a:solidFill>
                <a:latin typeface="Times New Roman" panose="02020603050405020304" pitchFamily="18" charset="0"/>
                <a:cs typeface="Times New Roman" panose="02020603050405020304" pitchFamily="18" charset="0"/>
              </a:rPr>
              <a:t>s3.put_object(Bucket=bucket, Key=key, Body=</a:t>
            </a:r>
            <a:r>
              <a:rPr lang="en-US" dirty="0" err="1" smtClean="0">
                <a:solidFill>
                  <a:schemeClr val="bg1"/>
                </a:solidFill>
                <a:latin typeface="Times New Roman" panose="02020603050405020304" pitchFamily="18" charset="0"/>
                <a:cs typeface="Times New Roman" panose="02020603050405020304" pitchFamily="18" charset="0"/>
              </a:rPr>
              <a:t>b"Updated</a:t>
            </a:r>
            <a:r>
              <a:rPr lang="en-US" dirty="0" smtClean="0">
                <a:solidFill>
                  <a:schemeClr val="bg1"/>
                </a:solidFill>
                <a:latin typeface="Times New Roman" panose="02020603050405020304" pitchFamily="18" charset="0"/>
                <a:cs typeface="Times New Roman" panose="02020603050405020304" pitchFamily="18" charset="0"/>
              </a:rPr>
              <a:t> content v2")</a:t>
            </a:r>
          </a:p>
        </p:txBody>
      </p:sp>
      <p:sp>
        <p:nvSpPr>
          <p:cNvPr id="16" name="Rectangle 15"/>
          <p:cNvSpPr/>
          <p:nvPr/>
        </p:nvSpPr>
        <p:spPr>
          <a:xfrm>
            <a:off x="6636618" y="2823600"/>
            <a:ext cx="4557563" cy="1200329"/>
          </a:xfrm>
          <a:prstGeom prst="rect">
            <a:avLst/>
          </a:prstGeom>
        </p:spPr>
        <p:txBody>
          <a:bodyPr wrap="square">
            <a:spAutoFit/>
          </a:bodyPr>
          <a:lstStyle/>
          <a:p>
            <a:r>
              <a:rPr lang="en-US" dirty="0" smtClean="0">
                <a:solidFill>
                  <a:schemeClr val="bg1"/>
                </a:solidFill>
                <a:latin typeface="Times New Roman" panose="02020603050405020304" pitchFamily="18" charset="0"/>
                <a:cs typeface="Times New Roman" panose="02020603050405020304" pitchFamily="18" charset="0"/>
              </a:rPr>
              <a:t>Example: replaces the data of s3://my-bucket/uploads/2025/report.txt with “Updated content v2”. If versioning is enabled, this becomes a new version.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7" name="Rectangle 16"/>
          <p:cNvSpPr/>
          <p:nvPr/>
        </p:nvSpPr>
        <p:spPr>
          <a:xfrm>
            <a:off x="6636618" y="4152329"/>
            <a:ext cx="3606757" cy="369332"/>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Delete (remove the object from S3)</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6636618" y="4674528"/>
            <a:ext cx="4610503" cy="42057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bg1"/>
                </a:solidFill>
                <a:latin typeface="Times New Roman" panose="02020603050405020304" pitchFamily="18" charset="0"/>
                <a:cs typeface="Times New Roman" panose="02020603050405020304" pitchFamily="18" charset="0"/>
              </a:rPr>
              <a:t>s3.delete_object(Bucket=bucket, Key=key)</a:t>
            </a:r>
          </a:p>
        </p:txBody>
      </p:sp>
      <p:sp>
        <p:nvSpPr>
          <p:cNvPr id="19" name="Rectangle 18"/>
          <p:cNvSpPr/>
          <p:nvPr/>
        </p:nvSpPr>
        <p:spPr>
          <a:xfrm>
            <a:off x="6515298" y="5247966"/>
            <a:ext cx="5420028" cy="1200329"/>
          </a:xfrm>
          <a:prstGeom prst="rect">
            <a:avLst/>
          </a:prstGeom>
        </p:spPr>
        <p:txBody>
          <a:bodyPr wrap="square">
            <a:spAutoFit/>
          </a:bodyPr>
          <a:lstStyle/>
          <a:p>
            <a:r>
              <a:rPr lang="en-US" dirty="0" smtClean="0">
                <a:solidFill>
                  <a:schemeClr val="bg1"/>
                </a:solidFill>
                <a:latin typeface="Times New Roman" panose="02020603050405020304" pitchFamily="18" charset="0"/>
                <a:cs typeface="Times New Roman" panose="02020603050405020304" pitchFamily="18" charset="0"/>
              </a:rPr>
              <a:t>Example: deletes s3://my-bucket/uploads/2025/report.txt. If versioning is enabled, it adds a delete marker (older versions remain recoverable).</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90732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266298" y="1139579"/>
            <a:ext cx="11120388" cy="2954655"/>
          </a:xfrm>
          <a:prstGeom prst="rect">
            <a:avLst/>
          </a:prstGeom>
        </p:spPr>
        <p:txBody>
          <a:bodyPr wrap="square">
            <a:spAutoFit/>
          </a:bodyPr>
          <a:lstStyle/>
          <a:p>
            <a:r>
              <a:rPr lang="en-US" sz="2400" b="1" dirty="0" smtClean="0">
                <a:solidFill>
                  <a:schemeClr val="bg1"/>
                </a:solidFill>
                <a:latin typeface="Times New Roman" panose="02020603050405020304" pitchFamily="18" charset="0"/>
                <a:cs typeface="Times New Roman" panose="02020603050405020304" pitchFamily="18" charset="0"/>
              </a:rPr>
              <a:t>CASE STUDY</a:t>
            </a:r>
          </a:p>
          <a:p>
            <a:r>
              <a:rPr lang="en-US" b="1" dirty="0" smtClean="0">
                <a:solidFill>
                  <a:schemeClr val="bg1"/>
                </a:solidFill>
                <a:latin typeface="Times New Roman" panose="02020603050405020304" pitchFamily="18" charset="0"/>
                <a:cs typeface="Times New Roman" panose="02020603050405020304" pitchFamily="18" charset="0"/>
              </a:rPr>
              <a:t>Context.</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QuickReels</a:t>
            </a:r>
            <a:r>
              <a:rPr lang="en-US" dirty="0" smtClean="0">
                <a:solidFill>
                  <a:schemeClr val="bg1"/>
                </a:solidFill>
                <a:latin typeface="Times New Roman" panose="02020603050405020304" pitchFamily="18" charset="0"/>
                <a:cs typeface="Times New Roman" panose="02020603050405020304" pitchFamily="18" charset="0"/>
              </a:rPr>
              <a:t> is a short-video app where users:</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upload an MP4 video (“reel”),</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attach a JPG thumbnail,</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save some metadata (JSON: caption, tags, duration, etc.),</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later stream or download their own video,</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sometimes replace the video/thumbnail or delete the reel.</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Core storage challenge.</a:t>
            </a:r>
            <a:r>
              <a:rPr lang="en-US" dirty="0" smtClean="0">
                <a:solidFill>
                  <a:schemeClr val="bg1"/>
                </a:solidFill>
                <a:latin typeface="Times New Roman" panose="02020603050405020304" pitchFamily="18" charset="0"/>
                <a:cs typeface="Times New Roman" panose="02020603050405020304" pitchFamily="18" charset="0"/>
              </a:rPr>
              <a:t> We need one place to store many user reels reliably and cheaply, serve them back quickly, and keep everything private-by-default.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266298" y="4094234"/>
            <a:ext cx="6096000" cy="2616101"/>
          </a:xfrm>
          <a:prstGeom prst="rect">
            <a:avLst/>
          </a:prstGeom>
        </p:spPr>
        <p:txBody>
          <a:bodyPr>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Solution:</a:t>
            </a:r>
            <a:r>
              <a:rPr lang="en-US" b="1" dirty="0" smtClean="0">
                <a:solidFill>
                  <a:schemeClr val="bg1"/>
                </a:solidFill>
                <a:latin typeface="Times New Roman" panose="02020603050405020304" pitchFamily="18" charset="0"/>
                <a:cs typeface="Times New Roman" panose="02020603050405020304" pitchFamily="18" charset="0"/>
              </a:rPr>
              <a:t> </a:t>
            </a:r>
            <a:r>
              <a:rPr lang="en-US" dirty="0" smtClean="0">
                <a:solidFill>
                  <a:schemeClr val="bg1"/>
                </a:solidFill>
                <a:latin typeface="Times New Roman" panose="02020603050405020304" pitchFamily="18" charset="0"/>
                <a:cs typeface="Times New Roman" panose="02020603050405020304" pitchFamily="18" charset="0"/>
              </a:rPr>
              <a:t>Amazon S3 with: </a:t>
            </a:r>
          </a:p>
          <a:p>
            <a:r>
              <a:rPr lang="en-US" b="1" dirty="0" smtClean="0">
                <a:solidFill>
                  <a:schemeClr val="bg1"/>
                </a:solidFill>
                <a:latin typeface="Times New Roman" panose="02020603050405020304" pitchFamily="18" charset="0"/>
                <a:cs typeface="Times New Roman" panose="02020603050405020304" pitchFamily="18" charset="0"/>
              </a:rPr>
              <a:t>Key design: </a:t>
            </a:r>
            <a:r>
              <a:rPr lang="en-US" dirty="0" smtClean="0">
                <a:solidFill>
                  <a:schemeClr val="bg1"/>
                </a:solidFill>
                <a:latin typeface="Times New Roman" panose="02020603050405020304" pitchFamily="18" charset="0"/>
                <a:cs typeface="Times New Roman" panose="02020603050405020304" pitchFamily="18" charset="0"/>
              </a:rPr>
              <a:t>reels/&lt;</a:t>
            </a:r>
            <a:r>
              <a:rPr lang="en-US" dirty="0" err="1" smtClean="0">
                <a:solidFill>
                  <a:schemeClr val="bg1"/>
                </a:solidFill>
                <a:latin typeface="Times New Roman" panose="02020603050405020304" pitchFamily="18" charset="0"/>
                <a:cs typeface="Times New Roman" panose="02020603050405020304" pitchFamily="18" charset="0"/>
              </a:rPr>
              <a:t>user_id</a:t>
            </a:r>
            <a:r>
              <a:rPr lang="en-US" dirty="0" smtClean="0">
                <a:solidFill>
                  <a:schemeClr val="bg1"/>
                </a:solidFill>
                <a:latin typeface="Times New Roman" panose="02020603050405020304" pitchFamily="18" charset="0"/>
                <a:cs typeface="Times New Roman" panose="02020603050405020304" pitchFamily="18" charset="0"/>
              </a:rPr>
              <a:t>&gt;/&lt;</a:t>
            </a:r>
            <a:r>
              <a:rPr lang="en-US" dirty="0" err="1" smtClean="0">
                <a:solidFill>
                  <a:schemeClr val="bg1"/>
                </a:solidFill>
                <a:latin typeface="Times New Roman" panose="02020603050405020304" pitchFamily="18" charset="0"/>
                <a:cs typeface="Times New Roman" panose="02020603050405020304" pitchFamily="18" charset="0"/>
              </a:rPr>
              <a:t>reel_id</a:t>
            </a:r>
            <a:r>
              <a:rPr lang="en-US" dirty="0" smtClean="0">
                <a:solidFill>
                  <a:schemeClr val="bg1"/>
                </a:solidFill>
                <a:latin typeface="Times New Roman" panose="02020603050405020304" pitchFamily="18" charset="0"/>
                <a:cs typeface="Times New Roman" panose="02020603050405020304" pitchFamily="18" charset="0"/>
              </a:rPr>
              <a:t>&gt;/(video.mp4|thumb.jpg|meta.json) </a:t>
            </a:r>
            <a:r>
              <a:rPr lang="en-US" b="1" dirty="0" smtClean="0">
                <a:solidFill>
                  <a:schemeClr val="bg1"/>
                </a:solidFill>
                <a:latin typeface="Times New Roman" panose="02020603050405020304" pitchFamily="18" charset="0"/>
                <a:cs typeface="Times New Roman" panose="02020603050405020304" pitchFamily="18" charset="0"/>
              </a:rPr>
              <a:t>Bucket settings: </a:t>
            </a:r>
          </a:p>
          <a:p>
            <a:r>
              <a:rPr lang="en-US" dirty="0" smtClean="0">
                <a:solidFill>
                  <a:schemeClr val="bg1"/>
                </a:solidFill>
                <a:latin typeface="Times New Roman" panose="02020603050405020304" pitchFamily="18" charset="0"/>
                <a:cs typeface="Times New Roman" panose="02020603050405020304" pitchFamily="18" charset="0"/>
              </a:rPr>
              <a:t>Versioning Enabled, Encryption AES256, Block Public Access </a:t>
            </a:r>
            <a:r>
              <a:rPr lang="en-US" b="1" dirty="0" smtClean="0">
                <a:solidFill>
                  <a:schemeClr val="bg1"/>
                </a:solidFill>
                <a:latin typeface="Times New Roman" panose="02020603050405020304" pitchFamily="18" charset="0"/>
                <a:cs typeface="Times New Roman" panose="02020603050405020304" pitchFamily="18" charset="0"/>
              </a:rPr>
              <a:t>ON Downloads: </a:t>
            </a:r>
          </a:p>
          <a:p>
            <a:r>
              <a:rPr lang="en-US" dirty="0" smtClean="0">
                <a:solidFill>
                  <a:schemeClr val="bg1"/>
                </a:solidFill>
                <a:latin typeface="Times New Roman" panose="02020603050405020304" pitchFamily="18" charset="0"/>
                <a:cs typeface="Times New Roman" panose="02020603050405020304" pitchFamily="18" charset="0"/>
              </a:rPr>
              <a:t>via pre-signed GET URLs (time-limited private access) </a:t>
            </a:r>
            <a:r>
              <a:rPr lang="en-US" b="1" dirty="0" smtClean="0">
                <a:solidFill>
                  <a:schemeClr val="bg1"/>
                </a:solidFill>
                <a:latin typeface="Times New Roman" panose="02020603050405020304" pitchFamily="18" charset="0"/>
                <a:cs typeface="Times New Roman" panose="02020603050405020304" pitchFamily="18" charset="0"/>
              </a:rPr>
              <a:t>Automation: </a:t>
            </a:r>
          </a:p>
          <a:p>
            <a:r>
              <a:rPr lang="en-US" dirty="0" smtClean="0">
                <a:solidFill>
                  <a:schemeClr val="bg1"/>
                </a:solidFill>
                <a:latin typeface="Times New Roman" panose="02020603050405020304" pitchFamily="18" charset="0"/>
                <a:cs typeface="Times New Roman" panose="02020603050405020304" pitchFamily="18" charset="0"/>
              </a:rPr>
              <a:t>Python + boto3</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25706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5503" y="948690"/>
            <a:ext cx="11760467" cy="5909310"/>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 --- Setup (once) ---</a:t>
            </a:r>
          </a:p>
          <a:p>
            <a:r>
              <a:rPr lang="en-US" dirty="0" smtClean="0">
                <a:solidFill>
                  <a:schemeClr val="bg1"/>
                </a:solidFill>
                <a:latin typeface="Times New Roman" panose="02020603050405020304" pitchFamily="18" charset="0"/>
                <a:cs typeface="Times New Roman" panose="02020603050405020304" pitchFamily="18" charset="0"/>
              </a:rPr>
              <a:t>import boto3, </a:t>
            </a:r>
            <a:r>
              <a:rPr lang="en-US" dirty="0" err="1" smtClean="0">
                <a:solidFill>
                  <a:schemeClr val="bg1"/>
                </a:solidFill>
                <a:latin typeface="Times New Roman" panose="02020603050405020304" pitchFamily="18" charset="0"/>
                <a:cs typeface="Times New Roman" panose="02020603050405020304" pitchFamily="18" charset="0"/>
              </a:rPr>
              <a:t>json</a:t>
            </a:r>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from </a:t>
            </a:r>
            <a:r>
              <a:rPr lang="en-US" dirty="0" err="1" smtClean="0">
                <a:solidFill>
                  <a:schemeClr val="bg1"/>
                </a:solidFill>
                <a:latin typeface="Times New Roman" panose="02020603050405020304" pitchFamily="18" charset="0"/>
                <a:cs typeface="Times New Roman" panose="02020603050405020304" pitchFamily="18" charset="0"/>
              </a:rPr>
              <a:t>botocore.exceptions</a:t>
            </a:r>
            <a:r>
              <a:rPr lang="en-US" dirty="0" smtClean="0">
                <a:solidFill>
                  <a:schemeClr val="bg1"/>
                </a:solidFill>
                <a:latin typeface="Times New Roman" panose="02020603050405020304" pitchFamily="18" charset="0"/>
                <a:cs typeface="Times New Roman" panose="02020603050405020304" pitchFamily="18" charset="0"/>
              </a:rPr>
              <a:t> import </a:t>
            </a:r>
            <a:r>
              <a:rPr lang="en-US" dirty="0" err="1" smtClean="0">
                <a:solidFill>
                  <a:schemeClr val="bg1"/>
                </a:solidFill>
                <a:latin typeface="Times New Roman" panose="02020603050405020304" pitchFamily="18" charset="0"/>
                <a:cs typeface="Times New Roman" panose="02020603050405020304" pitchFamily="18" charset="0"/>
              </a:rPr>
              <a:t>ClientError</a:t>
            </a:r>
            <a:endParaRPr lang="en-US" dirty="0" smtClean="0">
              <a:solidFill>
                <a:schemeClr val="bg1"/>
              </a:solidFill>
              <a:latin typeface="Times New Roman" panose="02020603050405020304" pitchFamily="18" charset="0"/>
              <a:cs typeface="Times New Roman" panose="02020603050405020304" pitchFamily="18" charset="0"/>
            </a:endParaRP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REGION = "me-pak-1"  </a:t>
            </a:r>
          </a:p>
          <a:p>
            <a:r>
              <a:rPr lang="en-US" dirty="0" smtClean="0">
                <a:solidFill>
                  <a:schemeClr val="bg1"/>
                </a:solidFill>
                <a:latin typeface="Times New Roman" panose="02020603050405020304" pitchFamily="18" charset="0"/>
                <a:cs typeface="Times New Roman" panose="02020603050405020304" pitchFamily="18" charset="0"/>
              </a:rPr>
              <a:t>BUCKET = "quickreels-pk-aqsa-2025-09-24-8f3a"  # change if taken</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s3 = boto3.client("s3", </a:t>
            </a:r>
            <a:r>
              <a:rPr lang="en-US" dirty="0" err="1" smtClean="0">
                <a:solidFill>
                  <a:schemeClr val="bg1"/>
                </a:solidFill>
                <a:latin typeface="Times New Roman" panose="02020603050405020304" pitchFamily="18" charset="0"/>
                <a:cs typeface="Times New Roman" panose="02020603050405020304" pitchFamily="18" charset="0"/>
              </a:rPr>
              <a:t>region_name</a:t>
            </a:r>
            <a:r>
              <a:rPr lang="en-US" dirty="0" smtClean="0">
                <a:solidFill>
                  <a:schemeClr val="bg1"/>
                </a:solidFill>
                <a:latin typeface="Times New Roman" panose="02020603050405020304" pitchFamily="18" charset="0"/>
                <a:cs typeface="Times New Roman" panose="02020603050405020304" pitchFamily="18" charset="0"/>
              </a:rPr>
              <a:t>=REGION)</a:t>
            </a:r>
          </a:p>
          <a:p>
            <a:r>
              <a:rPr lang="en-US" b="1" dirty="0" smtClean="0">
                <a:solidFill>
                  <a:schemeClr val="bg1"/>
                </a:solidFill>
                <a:latin typeface="Times New Roman" panose="02020603050405020304" pitchFamily="18" charset="0"/>
                <a:cs typeface="Times New Roman" panose="02020603050405020304" pitchFamily="18" charset="0"/>
              </a:rPr>
              <a:t># Create bucket if missing (ignore error if exists)</a:t>
            </a:r>
          </a:p>
          <a:p>
            <a:r>
              <a:rPr lang="en-US" dirty="0" smtClean="0">
                <a:solidFill>
                  <a:schemeClr val="bg1"/>
                </a:solidFill>
                <a:latin typeface="Times New Roman" panose="02020603050405020304" pitchFamily="18" charset="0"/>
                <a:cs typeface="Times New Roman" panose="02020603050405020304" pitchFamily="18" charset="0"/>
              </a:rPr>
              <a:t>try:</a:t>
            </a:r>
          </a:p>
          <a:p>
            <a:r>
              <a:rPr lang="en-US" dirty="0" smtClean="0">
                <a:solidFill>
                  <a:schemeClr val="bg1"/>
                </a:solidFill>
                <a:latin typeface="Times New Roman" panose="02020603050405020304" pitchFamily="18" charset="0"/>
                <a:cs typeface="Times New Roman" panose="02020603050405020304" pitchFamily="18" charset="0"/>
              </a:rPr>
              <a:t>    s3.head_bucket(Bucket=BUCKET)</a:t>
            </a:r>
          </a:p>
          <a:p>
            <a:r>
              <a:rPr lang="en-US" dirty="0" smtClean="0">
                <a:solidFill>
                  <a:schemeClr val="bg1"/>
                </a:solidFill>
                <a:latin typeface="Times New Roman" panose="02020603050405020304" pitchFamily="18" charset="0"/>
                <a:cs typeface="Times New Roman" panose="02020603050405020304" pitchFamily="18" charset="0"/>
              </a:rPr>
              <a:t>except </a:t>
            </a:r>
            <a:r>
              <a:rPr lang="en-US" dirty="0" err="1" smtClean="0">
                <a:solidFill>
                  <a:schemeClr val="bg1"/>
                </a:solidFill>
                <a:latin typeface="Times New Roman" panose="02020603050405020304" pitchFamily="18" charset="0"/>
                <a:cs typeface="Times New Roman" panose="02020603050405020304" pitchFamily="18" charset="0"/>
              </a:rPr>
              <a:t>ClientError</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    s3.create_bucket(Bucket=BUCKET, </a:t>
            </a:r>
            <a:r>
              <a:rPr lang="en-US" dirty="0" err="1" smtClean="0">
                <a:solidFill>
                  <a:schemeClr val="bg1"/>
                </a:solidFill>
                <a:latin typeface="Times New Roman" panose="02020603050405020304" pitchFamily="18" charset="0"/>
                <a:cs typeface="Times New Roman" panose="02020603050405020304" pitchFamily="18" charset="0"/>
              </a:rPr>
              <a:t>CreateBucketConfiguration</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LocationConstraint</a:t>
            </a:r>
            <a:r>
              <a:rPr lang="en-US" dirty="0" smtClean="0">
                <a:solidFill>
                  <a:schemeClr val="bg1"/>
                </a:solidFill>
                <a:latin typeface="Times New Roman" panose="02020603050405020304" pitchFamily="18" charset="0"/>
                <a:cs typeface="Times New Roman" panose="02020603050405020304" pitchFamily="18" charset="0"/>
              </a:rPr>
              <a:t>": REGION})</a:t>
            </a:r>
          </a:p>
          <a:p>
            <a:r>
              <a:rPr lang="en-US" b="1" dirty="0" smtClean="0">
                <a:solidFill>
                  <a:schemeClr val="bg1"/>
                </a:solidFill>
                <a:latin typeface="Times New Roman" panose="02020603050405020304" pitchFamily="18" charset="0"/>
                <a:cs typeface="Times New Roman" panose="02020603050405020304" pitchFamily="18" charset="0"/>
              </a:rPr>
              <a:t># Safety: versioning + encryption</a:t>
            </a:r>
          </a:p>
          <a:p>
            <a:r>
              <a:rPr lang="en-US" dirty="0" smtClean="0">
                <a:solidFill>
                  <a:schemeClr val="bg1"/>
                </a:solidFill>
                <a:latin typeface="Times New Roman" panose="02020603050405020304" pitchFamily="18" charset="0"/>
                <a:cs typeface="Times New Roman" panose="02020603050405020304" pitchFamily="18" charset="0"/>
              </a:rPr>
              <a:t>    s3.put_bucket_versioning(Bucket=BUCKET, </a:t>
            </a:r>
            <a:r>
              <a:rPr lang="en-US" dirty="0" err="1" smtClean="0">
                <a:solidFill>
                  <a:schemeClr val="bg1"/>
                </a:solidFill>
                <a:latin typeface="Times New Roman" panose="02020603050405020304" pitchFamily="18" charset="0"/>
                <a:cs typeface="Times New Roman" panose="02020603050405020304" pitchFamily="18" charset="0"/>
              </a:rPr>
              <a:t>VersioningConfiguration</a:t>
            </a:r>
            <a:r>
              <a:rPr lang="en-US" dirty="0" smtClean="0">
                <a:solidFill>
                  <a:schemeClr val="bg1"/>
                </a:solidFill>
                <a:latin typeface="Times New Roman" panose="02020603050405020304" pitchFamily="18" charset="0"/>
                <a:cs typeface="Times New Roman" panose="02020603050405020304" pitchFamily="18" charset="0"/>
              </a:rPr>
              <a:t>={"Status": "Enabled"})</a:t>
            </a:r>
          </a:p>
          <a:p>
            <a:r>
              <a:rPr lang="en-US" dirty="0" smtClean="0">
                <a:solidFill>
                  <a:schemeClr val="bg1"/>
                </a:solidFill>
                <a:latin typeface="Times New Roman" panose="02020603050405020304" pitchFamily="18" charset="0"/>
                <a:cs typeface="Times New Roman" panose="02020603050405020304" pitchFamily="18" charset="0"/>
              </a:rPr>
              <a:t>    s3.put_bucket_encryption(</a:t>
            </a:r>
          </a:p>
          <a:p>
            <a:r>
              <a:rPr lang="en-US" dirty="0" smtClean="0">
                <a:solidFill>
                  <a:schemeClr val="bg1"/>
                </a:solidFill>
                <a:latin typeface="Times New Roman" panose="02020603050405020304" pitchFamily="18" charset="0"/>
                <a:cs typeface="Times New Roman" panose="02020603050405020304" pitchFamily="18" charset="0"/>
              </a:rPr>
              <a:t>        Bucket=BUCKET,</a:t>
            </a:r>
          </a:p>
          <a:p>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ServerSideEncryptionConfiguration</a:t>
            </a:r>
            <a:r>
              <a:rPr lang="en-US" dirty="0" smtClean="0">
                <a:solidFill>
                  <a:schemeClr val="bg1"/>
                </a:solidFill>
                <a:latin typeface="Times New Roman" panose="02020603050405020304" pitchFamily="18" charset="0"/>
                <a:cs typeface="Times New Roman" panose="02020603050405020304" pitchFamily="18" charset="0"/>
              </a:rPr>
              <a:t>={"Rules":[{"</a:t>
            </a:r>
            <a:r>
              <a:rPr lang="en-US" dirty="0" err="1" smtClean="0">
                <a:solidFill>
                  <a:schemeClr val="bg1"/>
                </a:solidFill>
                <a:latin typeface="Times New Roman" panose="02020603050405020304" pitchFamily="18" charset="0"/>
                <a:cs typeface="Times New Roman" panose="02020603050405020304" pitchFamily="18" charset="0"/>
              </a:rPr>
              <a:t>ApplyServerSideEncryptionByDefault</a:t>
            </a:r>
            <a:r>
              <a:rPr lang="en-US" dirty="0" smtClean="0">
                <a:solidFill>
                  <a:schemeClr val="bg1"/>
                </a:solidFill>
                <a:latin typeface="Times New Roman" panose="02020603050405020304" pitchFamily="18" charset="0"/>
                <a:cs typeface="Times New Roman" panose="02020603050405020304" pitchFamily="18" charset="0"/>
              </a:rPr>
              <a:t>":{"SSEAlgorithm":"AES256"}}]}</a:t>
            </a:r>
          </a:p>
          <a:p>
            <a:r>
              <a:rPr lang="en-US" dirty="0" smtClean="0">
                <a:solidFill>
                  <a:schemeClr val="bg1"/>
                </a:solidFill>
                <a:latin typeface="Times New Roman" panose="02020603050405020304" pitchFamily="18" charset="0"/>
                <a:cs typeface="Times New Roman" panose="02020603050405020304" pitchFamily="18" charset="0"/>
              </a:rPr>
              <a:t>    )</a:t>
            </a:r>
          </a:p>
          <a:p>
            <a:r>
              <a:rPr lang="en-US" dirty="0" smtClean="0">
                <a:solidFill>
                  <a:schemeClr val="bg1"/>
                </a:solidFill>
                <a:latin typeface="Times New Roman" panose="02020603050405020304" pitchFamily="18" charset="0"/>
                <a:cs typeface="Times New Roman" panose="02020603050405020304" pitchFamily="18" charset="0"/>
              </a:rPr>
              <a:t>print("Bucket ready.")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15503" y="948690"/>
            <a:ext cx="11944952" cy="5837121"/>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27903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89296" y="1111792"/>
            <a:ext cx="7145154" cy="1508105"/>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Local file paths from your PC </a:t>
            </a:r>
          </a:p>
          <a:p>
            <a:endParaRPr lang="en-US" dirty="0"/>
          </a:p>
          <a:p>
            <a:r>
              <a:rPr lang="en-US" dirty="0" err="1" smtClean="0">
                <a:solidFill>
                  <a:schemeClr val="bg1"/>
                </a:solidFill>
                <a:latin typeface="Times New Roman" panose="02020603050405020304" pitchFamily="18" charset="0"/>
                <a:cs typeface="Times New Roman" panose="02020603050405020304" pitchFamily="18" charset="0"/>
              </a:rPr>
              <a:t>video_path</a:t>
            </a:r>
            <a:r>
              <a:rPr lang="en-US" dirty="0" smtClean="0">
                <a:solidFill>
                  <a:schemeClr val="bg1"/>
                </a:solidFill>
                <a:latin typeface="Times New Roman" panose="02020603050405020304" pitchFamily="18" charset="0"/>
                <a:cs typeface="Times New Roman" panose="02020603050405020304" pitchFamily="18" charset="0"/>
              </a:rPr>
              <a:t> = </a:t>
            </a:r>
            <a:r>
              <a:rPr lang="en-US" dirty="0" err="1" smtClean="0">
                <a:solidFill>
                  <a:schemeClr val="bg1"/>
                </a:solidFill>
                <a:latin typeface="Times New Roman" panose="02020603050405020304" pitchFamily="18" charset="0"/>
                <a:cs typeface="Times New Roman" panose="02020603050405020304" pitchFamily="18" charset="0"/>
              </a:rPr>
              <a:t>r"C</a:t>
            </a:r>
            <a:r>
              <a:rPr lang="en-US" dirty="0" smtClean="0">
                <a:solidFill>
                  <a:schemeClr val="bg1"/>
                </a:solidFill>
                <a:latin typeface="Times New Roman" panose="02020603050405020304" pitchFamily="18" charset="0"/>
                <a:cs typeface="Times New Roman" panose="02020603050405020304" pitchFamily="18" charset="0"/>
              </a:rPr>
              <a:t>:\Users\You\Videos\my_reel.mp4"</a:t>
            </a:r>
          </a:p>
          <a:p>
            <a:r>
              <a:rPr lang="en-US" dirty="0" err="1" smtClean="0">
                <a:solidFill>
                  <a:schemeClr val="bg1"/>
                </a:solidFill>
                <a:latin typeface="Times New Roman" panose="02020603050405020304" pitchFamily="18" charset="0"/>
                <a:cs typeface="Times New Roman" panose="02020603050405020304" pitchFamily="18" charset="0"/>
              </a:rPr>
              <a:t>thumb_path</a:t>
            </a:r>
            <a:r>
              <a:rPr lang="en-US" dirty="0" smtClean="0">
                <a:solidFill>
                  <a:schemeClr val="bg1"/>
                </a:solidFill>
                <a:latin typeface="Times New Roman" panose="02020603050405020304" pitchFamily="18" charset="0"/>
                <a:cs typeface="Times New Roman" panose="02020603050405020304" pitchFamily="18" charset="0"/>
              </a:rPr>
              <a:t> = </a:t>
            </a:r>
            <a:r>
              <a:rPr lang="en-US" dirty="0" err="1" smtClean="0">
                <a:solidFill>
                  <a:schemeClr val="bg1"/>
                </a:solidFill>
                <a:latin typeface="Times New Roman" panose="02020603050405020304" pitchFamily="18" charset="0"/>
                <a:cs typeface="Times New Roman" panose="02020603050405020304" pitchFamily="18" charset="0"/>
              </a:rPr>
              <a:t>r"C</a:t>
            </a:r>
            <a:r>
              <a:rPr lang="en-US" dirty="0" smtClean="0">
                <a:solidFill>
                  <a:schemeClr val="bg1"/>
                </a:solidFill>
                <a:latin typeface="Times New Roman" panose="02020603050405020304" pitchFamily="18" charset="0"/>
                <a:cs typeface="Times New Roman" panose="02020603050405020304" pitchFamily="18" charset="0"/>
              </a:rPr>
              <a:t>:\Users\You\Pictures\my_thumb.jpg"</a:t>
            </a:r>
          </a:p>
          <a:p>
            <a:r>
              <a:rPr lang="en-US" dirty="0" err="1" smtClean="0">
                <a:solidFill>
                  <a:schemeClr val="bg1"/>
                </a:solidFill>
                <a:latin typeface="Times New Roman" panose="02020603050405020304" pitchFamily="18" charset="0"/>
                <a:cs typeface="Times New Roman" panose="02020603050405020304" pitchFamily="18" charset="0"/>
              </a:rPr>
              <a:t>meta_path</a:t>
            </a:r>
            <a:r>
              <a:rPr lang="en-US" dirty="0" smtClean="0">
                <a:solidFill>
                  <a:schemeClr val="bg1"/>
                </a:solidFill>
                <a:latin typeface="Times New Roman" panose="02020603050405020304" pitchFamily="18" charset="0"/>
                <a:cs typeface="Times New Roman" panose="02020603050405020304" pitchFamily="18" charset="0"/>
              </a:rPr>
              <a:t>  = </a:t>
            </a:r>
            <a:r>
              <a:rPr lang="en-US" dirty="0" err="1" smtClean="0">
                <a:solidFill>
                  <a:schemeClr val="bg1"/>
                </a:solidFill>
                <a:latin typeface="Times New Roman" panose="02020603050405020304" pitchFamily="18" charset="0"/>
                <a:cs typeface="Times New Roman" panose="02020603050405020304" pitchFamily="18" charset="0"/>
              </a:rPr>
              <a:t>r"C</a:t>
            </a:r>
            <a:r>
              <a:rPr lang="en-US" dirty="0" smtClean="0">
                <a:solidFill>
                  <a:schemeClr val="bg1"/>
                </a:solidFill>
                <a:latin typeface="Times New Roman" panose="02020603050405020304" pitchFamily="18" charset="0"/>
                <a:cs typeface="Times New Roman" panose="02020603050405020304" pitchFamily="18" charset="0"/>
              </a:rPr>
              <a:t>:\Users\You\Documents\my_meta.json"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89296" y="1631876"/>
            <a:ext cx="5980497" cy="1135781"/>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89296" y="3109204"/>
            <a:ext cx="6096000" cy="2339102"/>
          </a:xfrm>
          <a:prstGeom prst="rect">
            <a:avLst/>
          </a:prstGeom>
        </p:spPr>
        <p:txBody>
          <a:bodyPr>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Define user and reel key ID</a:t>
            </a:r>
          </a:p>
          <a:p>
            <a:endParaRPr lang="en-US" dirty="0"/>
          </a:p>
          <a:p>
            <a:r>
              <a:rPr lang="en-US" dirty="0" smtClean="0">
                <a:solidFill>
                  <a:schemeClr val="bg1"/>
                </a:solidFill>
                <a:latin typeface="Times New Roman" panose="02020603050405020304" pitchFamily="18" charset="0"/>
                <a:cs typeface="Times New Roman" panose="02020603050405020304" pitchFamily="18" charset="0"/>
              </a:rPr>
              <a:t>USER_ID = "user_987"</a:t>
            </a:r>
          </a:p>
          <a:p>
            <a:r>
              <a:rPr lang="en-US" dirty="0" smtClean="0">
                <a:solidFill>
                  <a:schemeClr val="bg1"/>
                </a:solidFill>
                <a:latin typeface="Times New Roman" panose="02020603050405020304" pitchFamily="18" charset="0"/>
                <a:cs typeface="Times New Roman" panose="02020603050405020304" pitchFamily="18" charset="0"/>
              </a:rPr>
              <a:t>REEL_ID = "reel_2025_09_001"</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VIDEO_KEY = </a:t>
            </a:r>
            <a:r>
              <a:rPr lang="en-US" dirty="0" err="1" smtClean="0">
                <a:solidFill>
                  <a:schemeClr val="bg1"/>
                </a:solidFill>
                <a:latin typeface="Times New Roman" panose="02020603050405020304" pitchFamily="18" charset="0"/>
                <a:cs typeface="Times New Roman" panose="02020603050405020304" pitchFamily="18" charset="0"/>
              </a:rPr>
              <a:t>f"reels</a:t>
            </a:r>
            <a:r>
              <a:rPr lang="en-US" dirty="0" smtClean="0">
                <a:solidFill>
                  <a:schemeClr val="bg1"/>
                </a:solidFill>
                <a:latin typeface="Times New Roman" panose="02020603050405020304" pitchFamily="18" charset="0"/>
                <a:cs typeface="Times New Roman" panose="02020603050405020304" pitchFamily="18" charset="0"/>
              </a:rPr>
              <a:t>/{USER_ID}/{REEL_ID}/video.mp4"</a:t>
            </a:r>
          </a:p>
          <a:p>
            <a:r>
              <a:rPr lang="en-US" dirty="0" smtClean="0">
                <a:solidFill>
                  <a:schemeClr val="bg1"/>
                </a:solidFill>
                <a:latin typeface="Times New Roman" panose="02020603050405020304" pitchFamily="18" charset="0"/>
                <a:cs typeface="Times New Roman" panose="02020603050405020304" pitchFamily="18" charset="0"/>
              </a:rPr>
              <a:t>THUMB_KEY = </a:t>
            </a:r>
            <a:r>
              <a:rPr lang="en-US" dirty="0" err="1" smtClean="0">
                <a:solidFill>
                  <a:schemeClr val="bg1"/>
                </a:solidFill>
                <a:latin typeface="Times New Roman" panose="02020603050405020304" pitchFamily="18" charset="0"/>
                <a:cs typeface="Times New Roman" panose="02020603050405020304" pitchFamily="18" charset="0"/>
              </a:rPr>
              <a:t>f"reels</a:t>
            </a:r>
            <a:r>
              <a:rPr lang="en-US" dirty="0" smtClean="0">
                <a:solidFill>
                  <a:schemeClr val="bg1"/>
                </a:solidFill>
                <a:latin typeface="Times New Roman" panose="02020603050405020304" pitchFamily="18" charset="0"/>
                <a:cs typeface="Times New Roman" panose="02020603050405020304" pitchFamily="18" charset="0"/>
              </a:rPr>
              <a:t>/{USER_ID}/{REEL_ID}/thumb.jpg"</a:t>
            </a:r>
          </a:p>
          <a:p>
            <a:r>
              <a:rPr lang="en-US" dirty="0" smtClean="0">
                <a:solidFill>
                  <a:schemeClr val="bg1"/>
                </a:solidFill>
                <a:latin typeface="Times New Roman" panose="02020603050405020304" pitchFamily="18" charset="0"/>
                <a:cs typeface="Times New Roman" panose="02020603050405020304" pitchFamily="18" charset="0"/>
              </a:rPr>
              <a:t>META_KEY  = </a:t>
            </a:r>
            <a:r>
              <a:rPr lang="en-US" dirty="0" err="1" smtClean="0">
                <a:solidFill>
                  <a:schemeClr val="bg1"/>
                </a:solidFill>
                <a:latin typeface="Times New Roman" panose="02020603050405020304" pitchFamily="18" charset="0"/>
                <a:cs typeface="Times New Roman" panose="02020603050405020304" pitchFamily="18" charset="0"/>
              </a:rPr>
              <a:t>f"reels</a:t>
            </a:r>
            <a:r>
              <a:rPr lang="en-US" dirty="0" smtClean="0">
                <a:solidFill>
                  <a:schemeClr val="bg1"/>
                </a:solidFill>
                <a:latin typeface="Times New Roman" panose="02020603050405020304" pitchFamily="18" charset="0"/>
                <a:cs typeface="Times New Roman" panose="02020603050405020304" pitchFamily="18" charset="0"/>
              </a:rPr>
              <a:t>/{USER_ID}/{REEL_ID}/</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189296" y="3676851"/>
            <a:ext cx="6288506" cy="2079056"/>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34315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21381" y="1105914"/>
            <a:ext cx="8662737" cy="707886"/>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Scenario</a:t>
            </a:r>
            <a:r>
              <a:rPr lang="en-US" sz="2000" dirty="0" smtClean="0">
                <a:solidFill>
                  <a:schemeClr val="bg1"/>
                </a:solidFill>
                <a:latin typeface="Times New Roman" panose="02020603050405020304" pitchFamily="18" charset="0"/>
                <a:cs typeface="Times New Roman" panose="02020603050405020304" pitchFamily="18" charset="0"/>
              </a:rPr>
              <a:t> : A user records a new reel and uploads the video.mp4, thumb.jpg, and </a:t>
            </a:r>
            <a:r>
              <a:rPr lang="en-US" sz="2000" dirty="0" err="1" smtClean="0">
                <a:solidFill>
                  <a:schemeClr val="bg1"/>
                </a:solidFill>
                <a:latin typeface="Times New Roman" panose="02020603050405020304" pitchFamily="18" charset="0"/>
                <a:cs typeface="Times New Roman" panose="02020603050405020304" pitchFamily="18" charset="0"/>
              </a:rPr>
              <a:t>meta.json</a:t>
            </a:r>
            <a:r>
              <a:rPr lang="en-US" sz="2000" dirty="0" smtClean="0">
                <a:solidFill>
                  <a:schemeClr val="bg1"/>
                </a:solidFill>
                <a:latin typeface="Times New Roman" panose="02020603050405020304" pitchFamily="18" charset="0"/>
                <a:cs typeface="Times New Roman" panose="02020603050405020304" pitchFamily="18" charset="0"/>
              </a:rPr>
              <a:t> from their laptop to S3 under reels/&lt;</a:t>
            </a:r>
            <a:r>
              <a:rPr lang="en-US" sz="2000" dirty="0" err="1" smtClean="0">
                <a:solidFill>
                  <a:schemeClr val="bg1"/>
                </a:solidFill>
                <a:latin typeface="Times New Roman" panose="02020603050405020304" pitchFamily="18" charset="0"/>
                <a:cs typeface="Times New Roman" panose="02020603050405020304" pitchFamily="18" charset="0"/>
              </a:rPr>
              <a:t>user_id</a:t>
            </a:r>
            <a:r>
              <a:rPr lang="en-US" sz="2000" dirty="0" smtClean="0">
                <a:solidFill>
                  <a:schemeClr val="bg1"/>
                </a:solidFill>
                <a:latin typeface="Times New Roman" panose="02020603050405020304" pitchFamily="18" charset="0"/>
                <a:cs typeface="Times New Roman" panose="02020603050405020304" pitchFamily="18" charset="0"/>
              </a:rPr>
              <a:t>&gt;/&lt;</a:t>
            </a:r>
            <a:r>
              <a:rPr lang="en-US" sz="2000" dirty="0" err="1" smtClean="0">
                <a:solidFill>
                  <a:schemeClr val="bg1"/>
                </a:solidFill>
                <a:latin typeface="Times New Roman" panose="02020603050405020304" pitchFamily="18" charset="0"/>
                <a:cs typeface="Times New Roman" panose="02020603050405020304" pitchFamily="18" charset="0"/>
              </a:rPr>
              <a:t>reel_id</a:t>
            </a:r>
            <a:r>
              <a:rPr lang="en-US" sz="2000" dirty="0" smtClean="0">
                <a:solidFill>
                  <a:schemeClr val="bg1"/>
                </a:solidFill>
                <a:latin typeface="Times New Roman" panose="02020603050405020304" pitchFamily="18" charset="0"/>
                <a:cs typeface="Times New Roman" panose="02020603050405020304" pitchFamily="18" charset="0"/>
              </a:rPr>
              <a:t>&gt;/ in one go.</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221381" y="1986459"/>
            <a:ext cx="8348312" cy="2339102"/>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Create Operation</a:t>
            </a:r>
          </a:p>
          <a:p>
            <a:r>
              <a:rPr lang="en-US" dirty="0" smtClean="0">
                <a:solidFill>
                  <a:schemeClr val="bg1"/>
                </a:solidFill>
                <a:latin typeface="Times New Roman" panose="02020603050405020304" pitchFamily="18" charset="0"/>
                <a:cs typeface="Times New Roman" panose="02020603050405020304" pitchFamily="18" charset="0"/>
              </a:rPr>
              <a:t>s3.upload_file("demo_video.mp4", BUCKET, VIDEO_KEY,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":"video/mp4"})</a:t>
            </a:r>
          </a:p>
          <a:p>
            <a:r>
              <a:rPr lang="en-US" dirty="0" smtClean="0">
                <a:solidFill>
                  <a:schemeClr val="bg1"/>
                </a:solidFill>
                <a:latin typeface="Times New Roman" panose="02020603050405020304" pitchFamily="18" charset="0"/>
                <a:cs typeface="Times New Roman" panose="02020603050405020304" pitchFamily="18" charset="0"/>
              </a:rPr>
              <a:t>s3.upload_file("demo_thumb.jpg", BUCKET, THUMB_KEY,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":"image/jpeg"})</a:t>
            </a:r>
          </a:p>
          <a:p>
            <a:r>
              <a:rPr lang="en-US" dirty="0" smtClean="0">
                <a:solidFill>
                  <a:schemeClr val="bg1"/>
                </a:solidFill>
                <a:latin typeface="Times New Roman" panose="02020603050405020304" pitchFamily="18" charset="0"/>
                <a:cs typeface="Times New Roman" panose="02020603050405020304" pitchFamily="18" charset="0"/>
              </a:rPr>
              <a:t>s3.upload_file("</a:t>
            </a:r>
            <a:r>
              <a:rPr lang="en-US" dirty="0" err="1" smtClean="0">
                <a:solidFill>
                  <a:schemeClr val="bg1"/>
                </a:solidFill>
                <a:latin typeface="Times New Roman" panose="02020603050405020304" pitchFamily="18" charset="0"/>
                <a:cs typeface="Times New Roman" panose="02020603050405020304" pitchFamily="18" charset="0"/>
              </a:rPr>
              <a:t>demo_meta.json</a:t>
            </a:r>
            <a:r>
              <a:rPr lang="en-US" dirty="0" smtClean="0">
                <a:solidFill>
                  <a:schemeClr val="bg1"/>
                </a:solidFill>
                <a:latin typeface="Times New Roman" panose="02020603050405020304" pitchFamily="18" charset="0"/>
                <a:cs typeface="Times New Roman" panose="02020603050405020304" pitchFamily="18" charset="0"/>
              </a:rPr>
              <a:t>",  BUCKET, META_KEY,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":"application/</a:t>
            </a:r>
            <a:r>
              <a:rPr lang="en-US" dirty="0" err="1" smtClean="0">
                <a:solidFill>
                  <a:schemeClr val="bg1"/>
                </a:solidFill>
                <a:latin typeface="Times New Roman" panose="02020603050405020304" pitchFamily="18" charset="0"/>
                <a:cs typeface="Times New Roman" panose="02020603050405020304" pitchFamily="18" charset="0"/>
              </a:rPr>
              <a:t>json</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print("Uploaded video, thumb, and </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221381" y="1986459"/>
            <a:ext cx="8527984" cy="2435192"/>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21381" y="4828757"/>
            <a:ext cx="6096000" cy="646331"/>
          </a:xfrm>
          <a:prstGeom prst="rect">
            <a:avLst/>
          </a:prstGeom>
        </p:spPr>
        <p:txBody>
          <a:bodyPr>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a:t>
            </a:r>
          </a:p>
          <a:p>
            <a:r>
              <a:rPr lang="en-US" dirty="0" smtClean="0">
                <a:solidFill>
                  <a:schemeClr val="bg1"/>
                </a:solidFill>
                <a:latin typeface="Times New Roman" panose="02020603050405020304" pitchFamily="18" charset="0"/>
                <a:cs typeface="Times New Roman" panose="02020603050405020304" pitchFamily="18" charset="0"/>
              </a:rPr>
              <a:t>Uploaded video, thumb, and </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from local files.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9" name="Rectangle 8"/>
          <p:cNvSpPr/>
          <p:nvPr/>
        </p:nvSpPr>
        <p:spPr>
          <a:xfrm>
            <a:off x="221381" y="4764505"/>
            <a:ext cx="6314173" cy="981777"/>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44756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2293" y="933255"/>
            <a:ext cx="10841255" cy="707886"/>
          </a:xfrm>
          <a:prstGeom prst="rect">
            <a:avLst/>
          </a:prstGeom>
        </p:spPr>
        <p:txBody>
          <a:bodyPr wrap="square">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Scenario: </a:t>
            </a:r>
            <a:r>
              <a:rPr lang="en-US" sz="2000" dirty="0" smtClean="0">
                <a:solidFill>
                  <a:schemeClr val="bg1"/>
                </a:solidFill>
                <a:latin typeface="Times New Roman" panose="02020603050405020304" pitchFamily="18" charset="0"/>
                <a:cs typeface="Times New Roman" panose="02020603050405020304" pitchFamily="18" charset="0"/>
              </a:rPr>
              <a:t>The user opens their reel page to preview/download the video, so the app lists all objects under reels/&lt;</a:t>
            </a:r>
            <a:r>
              <a:rPr lang="en-US" sz="2000" dirty="0" err="1" smtClean="0">
                <a:solidFill>
                  <a:schemeClr val="bg1"/>
                </a:solidFill>
                <a:latin typeface="Times New Roman" panose="02020603050405020304" pitchFamily="18" charset="0"/>
                <a:cs typeface="Times New Roman" panose="02020603050405020304" pitchFamily="18" charset="0"/>
              </a:rPr>
              <a:t>user_id</a:t>
            </a:r>
            <a:r>
              <a:rPr lang="en-US" sz="2000" dirty="0" smtClean="0">
                <a:solidFill>
                  <a:schemeClr val="bg1"/>
                </a:solidFill>
                <a:latin typeface="Times New Roman" panose="02020603050405020304" pitchFamily="18" charset="0"/>
                <a:cs typeface="Times New Roman" panose="02020603050405020304" pitchFamily="18" charset="0"/>
              </a:rPr>
              <a:t>&gt;/&lt;</a:t>
            </a:r>
            <a:r>
              <a:rPr lang="en-US" sz="2000" dirty="0" err="1" smtClean="0">
                <a:solidFill>
                  <a:schemeClr val="bg1"/>
                </a:solidFill>
                <a:latin typeface="Times New Roman" panose="02020603050405020304" pitchFamily="18" charset="0"/>
                <a:cs typeface="Times New Roman" panose="02020603050405020304" pitchFamily="18" charset="0"/>
              </a:rPr>
              <a:t>reel_id</a:t>
            </a:r>
            <a:r>
              <a:rPr lang="en-US" sz="2000" dirty="0" smtClean="0">
                <a:solidFill>
                  <a:schemeClr val="bg1"/>
                </a:solidFill>
                <a:latin typeface="Times New Roman" panose="02020603050405020304" pitchFamily="18" charset="0"/>
                <a:cs typeface="Times New Roman" panose="02020603050405020304" pitchFamily="18" charset="0"/>
              </a:rPr>
              <a:t>&gt;/ and generates a 1-hour pre-signed URL for video.mp4.</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12293" y="1645749"/>
            <a:ext cx="8492691" cy="313932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READ Operation</a:t>
            </a:r>
          </a:p>
          <a:p>
            <a:r>
              <a:rPr lang="en-US" b="1" dirty="0" smtClean="0">
                <a:solidFill>
                  <a:schemeClr val="bg1"/>
                </a:solidFill>
                <a:latin typeface="Times New Roman" panose="02020603050405020304" pitchFamily="18" charset="0"/>
                <a:cs typeface="Times New Roman" panose="02020603050405020304" pitchFamily="18" charset="0"/>
              </a:rPr>
              <a:t># 1-hour private download/stream link</a:t>
            </a:r>
          </a:p>
          <a:p>
            <a:r>
              <a:rPr lang="en-US" dirty="0" err="1" smtClean="0">
                <a:solidFill>
                  <a:schemeClr val="bg1"/>
                </a:solidFill>
                <a:latin typeface="Times New Roman" panose="02020603050405020304" pitchFamily="18" charset="0"/>
                <a:cs typeface="Times New Roman" panose="02020603050405020304" pitchFamily="18" charset="0"/>
              </a:rPr>
              <a:t>url</a:t>
            </a:r>
            <a:r>
              <a:rPr lang="en-US" dirty="0" smtClean="0">
                <a:solidFill>
                  <a:schemeClr val="bg1"/>
                </a:solidFill>
                <a:latin typeface="Times New Roman" panose="02020603050405020304" pitchFamily="18" charset="0"/>
                <a:cs typeface="Times New Roman" panose="02020603050405020304" pitchFamily="18" charset="0"/>
              </a:rPr>
              <a:t> = s3.generate_presigned_url(</a:t>
            </a:r>
          </a:p>
          <a:p>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get_object</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Params</a:t>
            </a:r>
            <a:r>
              <a:rPr lang="en-US" dirty="0" smtClean="0">
                <a:solidFill>
                  <a:schemeClr val="bg1"/>
                </a:solidFill>
                <a:latin typeface="Times New Roman" panose="02020603050405020304" pitchFamily="18" charset="0"/>
                <a:cs typeface="Times New Roman" panose="02020603050405020304" pitchFamily="18" charset="0"/>
              </a:rPr>
              <a:t>={"Bucket": BUCKET, "Key": VIDEO_KEY},</a:t>
            </a:r>
          </a:p>
          <a:p>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ExpiresIn</a:t>
            </a:r>
            <a:r>
              <a:rPr lang="en-US" dirty="0" smtClean="0">
                <a:solidFill>
                  <a:schemeClr val="bg1"/>
                </a:solidFill>
                <a:latin typeface="Times New Roman" panose="02020603050405020304" pitchFamily="18" charset="0"/>
                <a:cs typeface="Times New Roman" panose="02020603050405020304" pitchFamily="18" charset="0"/>
              </a:rPr>
              <a:t>=3600)</a:t>
            </a:r>
          </a:p>
          <a:p>
            <a:r>
              <a:rPr lang="en-US" dirty="0" smtClean="0">
                <a:solidFill>
                  <a:schemeClr val="bg1"/>
                </a:solidFill>
                <a:latin typeface="Times New Roman" panose="02020603050405020304" pitchFamily="18" charset="0"/>
                <a:cs typeface="Times New Roman" panose="02020603050405020304" pitchFamily="18" charset="0"/>
              </a:rPr>
              <a:t>print("Download (1 hour):", </a:t>
            </a:r>
            <a:r>
              <a:rPr lang="en-US" dirty="0" err="1" smtClean="0">
                <a:solidFill>
                  <a:schemeClr val="bg1"/>
                </a:solidFill>
                <a:latin typeface="Times New Roman" panose="02020603050405020304" pitchFamily="18" charset="0"/>
                <a:cs typeface="Times New Roman" panose="02020603050405020304" pitchFamily="18" charset="0"/>
              </a:rPr>
              <a:t>url</a:t>
            </a:r>
            <a:r>
              <a:rPr lang="en-US" dirty="0" smtClean="0">
                <a:solidFill>
                  <a:schemeClr val="bg1"/>
                </a:solidFill>
                <a:latin typeface="Times New Roman" panose="02020603050405020304" pitchFamily="18" charset="0"/>
                <a:cs typeface="Times New Roman" panose="02020603050405020304" pitchFamily="18" charset="0"/>
              </a:rPr>
              <a:t>)</a:t>
            </a:r>
          </a:p>
          <a:p>
            <a:r>
              <a:rPr lang="en-US" b="1" dirty="0" smtClean="0">
                <a:solidFill>
                  <a:schemeClr val="bg1"/>
                </a:solidFill>
                <a:latin typeface="Times New Roman" panose="02020603050405020304" pitchFamily="18" charset="0"/>
                <a:cs typeface="Times New Roman" panose="02020603050405020304" pitchFamily="18" charset="0"/>
              </a:rPr>
              <a:t># List this reel's objects</a:t>
            </a:r>
          </a:p>
          <a:p>
            <a:r>
              <a:rPr lang="en-US" dirty="0" err="1" smtClean="0">
                <a:solidFill>
                  <a:schemeClr val="bg1"/>
                </a:solidFill>
                <a:latin typeface="Times New Roman" panose="02020603050405020304" pitchFamily="18" charset="0"/>
                <a:cs typeface="Times New Roman" panose="02020603050405020304" pitchFamily="18" charset="0"/>
              </a:rPr>
              <a:t>resp</a:t>
            </a:r>
            <a:r>
              <a:rPr lang="en-US" dirty="0" smtClean="0">
                <a:solidFill>
                  <a:schemeClr val="bg1"/>
                </a:solidFill>
                <a:latin typeface="Times New Roman" panose="02020603050405020304" pitchFamily="18" charset="0"/>
                <a:cs typeface="Times New Roman" panose="02020603050405020304" pitchFamily="18" charset="0"/>
              </a:rPr>
              <a:t> = s3.list_objects_v2(Bucket=BUCKET, Prefix=</a:t>
            </a:r>
            <a:r>
              <a:rPr lang="en-US" dirty="0" err="1" smtClean="0">
                <a:solidFill>
                  <a:schemeClr val="bg1"/>
                </a:solidFill>
                <a:latin typeface="Times New Roman" panose="02020603050405020304" pitchFamily="18" charset="0"/>
                <a:cs typeface="Times New Roman" panose="02020603050405020304" pitchFamily="18" charset="0"/>
              </a:rPr>
              <a:t>f"reels</a:t>
            </a:r>
            <a:r>
              <a:rPr lang="en-US" dirty="0" smtClean="0">
                <a:solidFill>
                  <a:schemeClr val="bg1"/>
                </a:solidFill>
                <a:latin typeface="Times New Roman" panose="02020603050405020304" pitchFamily="18" charset="0"/>
                <a:cs typeface="Times New Roman" panose="02020603050405020304" pitchFamily="18" charset="0"/>
              </a:rPr>
              <a:t>/{USER_ID}/{REEL_ID}/")</a:t>
            </a:r>
          </a:p>
          <a:p>
            <a:r>
              <a:rPr lang="en-US" dirty="0" smtClean="0">
                <a:solidFill>
                  <a:schemeClr val="bg1"/>
                </a:solidFill>
                <a:latin typeface="Times New Roman" panose="02020603050405020304" pitchFamily="18" charset="0"/>
                <a:cs typeface="Times New Roman" panose="02020603050405020304" pitchFamily="18" charset="0"/>
              </a:rPr>
              <a:t>for </a:t>
            </a:r>
            <a:r>
              <a:rPr lang="en-US" dirty="0" err="1" smtClean="0">
                <a:solidFill>
                  <a:schemeClr val="bg1"/>
                </a:solidFill>
                <a:latin typeface="Times New Roman" panose="02020603050405020304" pitchFamily="18" charset="0"/>
                <a:cs typeface="Times New Roman" panose="02020603050405020304" pitchFamily="18" charset="0"/>
              </a:rPr>
              <a:t>obj</a:t>
            </a:r>
            <a:r>
              <a:rPr lang="en-US" dirty="0" smtClean="0">
                <a:solidFill>
                  <a:schemeClr val="bg1"/>
                </a:solidFill>
                <a:latin typeface="Times New Roman" panose="02020603050405020304" pitchFamily="18" charset="0"/>
                <a:cs typeface="Times New Roman" panose="02020603050405020304" pitchFamily="18" charset="0"/>
              </a:rPr>
              <a:t> in </a:t>
            </a:r>
            <a:r>
              <a:rPr lang="en-US" dirty="0" err="1" smtClean="0">
                <a:solidFill>
                  <a:schemeClr val="bg1"/>
                </a:solidFill>
                <a:latin typeface="Times New Roman" panose="02020603050405020304" pitchFamily="18" charset="0"/>
                <a:cs typeface="Times New Roman" panose="02020603050405020304" pitchFamily="18" charset="0"/>
              </a:rPr>
              <a:t>resp.get</a:t>
            </a:r>
            <a:r>
              <a:rPr lang="en-US" dirty="0" smtClean="0">
                <a:solidFill>
                  <a:schemeClr val="bg1"/>
                </a:solidFill>
                <a:latin typeface="Times New Roman" panose="02020603050405020304" pitchFamily="18" charset="0"/>
                <a:cs typeface="Times New Roman" panose="02020603050405020304" pitchFamily="18" charset="0"/>
              </a:rPr>
              <a:t>("Contents", []):</a:t>
            </a:r>
          </a:p>
          <a:p>
            <a:r>
              <a:rPr lang="en-US" dirty="0" smtClean="0">
                <a:solidFill>
                  <a:schemeClr val="bg1"/>
                </a:solidFill>
                <a:latin typeface="Times New Roman" panose="02020603050405020304" pitchFamily="18" charset="0"/>
                <a:cs typeface="Times New Roman" panose="02020603050405020304" pitchFamily="18" charset="0"/>
              </a:rPr>
              <a:t>    print(</a:t>
            </a:r>
            <a:r>
              <a:rPr lang="en-US" dirty="0" err="1" smtClean="0">
                <a:solidFill>
                  <a:schemeClr val="bg1"/>
                </a:solidFill>
                <a:latin typeface="Times New Roman" panose="02020603050405020304" pitchFamily="18" charset="0"/>
                <a:cs typeface="Times New Roman" panose="02020603050405020304" pitchFamily="18" charset="0"/>
              </a:rPr>
              <a:t>obj</a:t>
            </a:r>
            <a:r>
              <a:rPr lang="en-US" dirty="0" smtClean="0">
                <a:solidFill>
                  <a:schemeClr val="bg1"/>
                </a:solidFill>
                <a:latin typeface="Times New Roman" panose="02020603050405020304" pitchFamily="18" charset="0"/>
                <a:cs typeface="Times New Roman" panose="02020603050405020304" pitchFamily="18" charset="0"/>
              </a:rPr>
              <a:t>["Key"], </a:t>
            </a:r>
            <a:r>
              <a:rPr lang="en-US" dirty="0" err="1" smtClean="0">
                <a:solidFill>
                  <a:schemeClr val="bg1"/>
                </a:solidFill>
                <a:latin typeface="Times New Roman" panose="02020603050405020304" pitchFamily="18" charset="0"/>
                <a:cs typeface="Times New Roman" panose="02020603050405020304" pitchFamily="18" charset="0"/>
              </a:rPr>
              <a:t>obj</a:t>
            </a:r>
            <a:r>
              <a:rPr lang="en-US" dirty="0" smtClean="0">
                <a:solidFill>
                  <a:schemeClr val="bg1"/>
                </a:solidFill>
                <a:latin typeface="Times New Roman" panose="02020603050405020304" pitchFamily="18" charset="0"/>
                <a:cs typeface="Times New Roman" panose="02020603050405020304" pitchFamily="18" charset="0"/>
              </a:rPr>
              <a:t>["Size"], "bytes")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112293" y="1641142"/>
            <a:ext cx="8531193" cy="3143928"/>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2293" y="4826675"/>
            <a:ext cx="12191999" cy="2031325"/>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a:t>
            </a:r>
          </a:p>
          <a:p>
            <a:r>
              <a:rPr lang="en-US" dirty="0" smtClean="0">
                <a:solidFill>
                  <a:schemeClr val="bg1"/>
                </a:solidFill>
                <a:latin typeface="Times New Roman" panose="02020603050405020304" pitchFamily="18" charset="0"/>
                <a:cs typeface="Times New Roman" panose="02020603050405020304" pitchFamily="18" charset="0"/>
              </a:rPr>
              <a:t>Download (1 hour): https://quickreels-pk-aqsa-2025-09-24-8f3a.s3.me-south-1.amazonaws.com/reels/user_987/reel_2025_09_001/video.mp4?X-Amz-Algorithm=AWS4-HMAC-SHA256&amp;X-Amz-Credential=...&amp;X-</a:t>
            </a:r>
            <a:r>
              <a:rPr lang="en-US" dirty="0" err="1" smtClean="0">
                <a:solidFill>
                  <a:schemeClr val="bg1"/>
                </a:solidFill>
                <a:latin typeface="Times New Roman" panose="02020603050405020304" pitchFamily="18" charset="0"/>
                <a:cs typeface="Times New Roman" panose="02020603050405020304" pitchFamily="18" charset="0"/>
              </a:rPr>
              <a:t>Amz</a:t>
            </a:r>
            <a:r>
              <a:rPr lang="en-US" dirty="0" smtClean="0">
                <a:solidFill>
                  <a:schemeClr val="bg1"/>
                </a:solidFill>
                <a:latin typeface="Times New Roman" panose="02020603050405020304" pitchFamily="18" charset="0"/>
                <a:cs typeface="Times New Roman" panose="02020603050405020304" pitchFamily="18" charset="0"/>
              </a:rPr>
              <a:t>-Date=20250924T110530Z&amp;X-Amz-Expires=3600&amp;X-Amz-SignedHeaders=</a:t>
            </a:r>
            <a:r>
              <a:rPr lang="en-US" dirty="0" err="1" smtClean="0">
                <a:solidFill>
                  <a:schemeClr val="bg1"/>
                </a:solidFill>
                <a:latin typeface="Times New Roman" panose="02020603050405020304" pitchFamily="18" charset="0"/>
                <a:cs typeface="Times New Roman" panose="02020603050405020304" pitchFamily="18" charset="0"/>
              </a:rPr>
              <a:t>host&amp;X-Amz-Signature</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reels/user_987/reel_2025_09_001/video.mp4 80128 bytes</a:t>
            </a:r>
          </a:p>
          <a:p>
            <a:r>
              <a:rPr lang="en-US" dirty="0" smtClean="0">
                <a:solidFill>
                  <a:schemeClr val="bg1"/>
                </a:solidFill>
                <a:latin typeface="Times New Roman" panose="02020603050405020304" pitchFamily="18" charset="0"/>
                <a:cs typeface="Times New Roman" panose="02020603050405020304" pitchFamily="18" charset="0"/>
              </a:rPr>
              <a:t>reels/user_987/reel_2025_09_001/thumb.jpg 12034 bytes</a:t>
            </a:r>
          </a:p>
          <a:p>
            <a:r>
              <a:rPr lang="en-US" dirty="0" smtClean="0">
                <a:solidFill>
                  <a:schemeClr val="bg1"/>
                </a:solidFill>
                <a:latin typeface="Times New Roman" panose="02020603050405020304" pitchFamily="18" charset="0"/>
                <a:cs typeface="Times New Roman" panose="02020603050405020304" pitchFamily="18" charset="0"/>
              </a:rPr>
              <a:t>reels/user_987/reel_2025_09_001/</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214 bytes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Rectangle 6"/>
          <p:cNvSpPr/>
          <p:nvPr/>
        </p:nvSpPr>
        <p:spPr>
          <a:xfrm>
            <a:off x="112293" y="4785070"/>
            <a:ext cx="12079707" cy="1984030"/>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00871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26141" y="1068014"/>
            <a:ext cx="11769213" cy="64633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Scenario : </a:t>
            </a:r>
            <a:r>
              <a:rPr lang="en-US" dirty="0" smtClean="0">
                <a:solidFill>
                  <a:schemeClr val="bg1"/>
                </a:solidFill>
                <a:latin typeface="Times New Roman" panose="02020603050405020304" pitchFamily="18" charset="0"/>
                <a:cs typeface="Times New Roman" panose="02020603050405020304" pitchFamily="18" charset="0"/>
              </a:rPr>
              <a:t>The user changes the caption and adds a new tag in </a:t>
            </a:r>
            <a:r>
              <a:rPr lang="en-US" dirty="0" err="1" smtClean="0">
                <a:solidFill>
                  <a:schemeClr val="bg1"/>
                </a:solidFill>
                <a:latin typeface="Times New Roman" panose="02020603050405020304" pitchFamily="18" charset="0"/>
                <a:cs typeface="Times New Roman" panose="02020603050405020304" pitchFamily="18" charset="0"/>
              </a:rPr>
              <a:t>my_meta.json</a:t>
            </a:r>
            <a:r>
              <a:rPr lang="en-US" dirty="0" smtClean="0">
                <a:solidFill>
                  <a:schemeClr val="bg1"/>
                </a:solidFill>
                <a:latin typeface="Times New Roman" panose="02020603050405020304" pitchFamily="18" charset="0"/>
                <a:cs typeface="Times New Roman" panose="02020603050405020304" pitchFamily="18" charset="0"/>
              </a:rPr>
              <a:t>, then the app re-uploads it to reels/&lt;</a:t>
            </a:r>
            <a:r>
              <a:rPr lang="en-US" dirty="0" err="1" smtClean="0">
                <a:solidFill>
                  <a:schemeClr val="bg1"/>
                </a:solidFill>
                <a:latin typeface="Times New Roman" panose="02020603050405020304" pitchFamily="18" charset="0"/>
                <a:cs typeface="Times New Roman" panose="02020603050405020304" pitchFamily="18" charset="0"/>
              </a:rPr>
              <a:t>user_id</a:t>
            </a:r>
            <a:r>
              <a:rPr lang="en-US" dirty="0" smtClean="0">
                <a:solidFill>
                  <a:schemeClr val="bg1"/>
                </a:solidFill>
                <a:latin typeface="Times New Roman" panose="02020603050405020304" pitchFamily="18" charset="0"/>
                <a:cs typeface="Times New Roman" panose="02020603050405020304" pitchFamily="18" charset="0"/>
              </a:rPr>
              <a:t>&gt;/&lt;</a:t>
            </a:r>
            <a:r>
              <a:rPr lang="en-US" dirty="0" err="1" smtClean="0">
                <a:solidFill>
                  <a:schemeClr val="bg1"/>
                </a:solidFill>
                <a:latin typeface="Times New Roman" panose="02020603050405020304" pitchFamily="18" charset="0"/>
                <a:cs typeface="Times New Roman" panose="02020603050405020304" pitchFamily="18" charset="0"/>
              </a:rPr>
              <a:t>reel_id</a:t>
            </a:r>
            <a:r>
              <a:rPr lang="en-US" dirty="0" smtClean="0">
                <a:solidFill>
                  <a:schemeClr val="bg1"/>
                </a:solidFill>
                <a:latin typeface="Times New Roman" panose="02020603050405020304" pitchFamily="18" charset="0"/>
                <a:cs typeface="Times New Roman" panose="02020603050405020304" pitchFamily="18" charset="0"/>
              </a:rPr>
              <a:t>&gt;/</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to reflect the updated details.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226141" y="1714345"/>
            <a:ext cx="8445910" cy="1200329"/>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UPDATE Operation</a:t>
            </a:r>
          </a:p>
          <a:p>
            <a:r>
              <a:rPr lang="en-US" dirty="0" smtClean="0">
                <a:solidFill>
                  <a:schemeClr val="bg1"/>
                </a:solidFill>
                <a:latin typeface="Times New Roman" panose="02020603050405020304" pitchFamily="18" charset="0"/>
                <a:cs typeface="Times New Roman" panose="02020603050405020304" pitchFamily="18" charset="0"/>
              </a:rPr>
              <a:t>s3.upload_file(</a:t>
            </a:r>
            <a:r>
              <a:rPr lang="en-US" dirty="0" err="1" smtClean="0">
                <a:solidFill>
                  <a:schemeClr val="bg1"/>
                </a:solidFill>
                <a:latin typeface="Times New Roman" panose="02020603050405020304" pitchFamily="18" charset="0"/>
                <a:cs typeface="Times New Roman" panose="02020603050405020304" pitchFamily="18" charset="0"/>
              </a:rPr>
              <a:t>meta_path</a:t>
            </a:r>
            <a:r>
              <a:rPr lang="en-US" dirty="0" smtClean="0">
                <a:solidFill>
                  <a:schemeClr val="bg1"/>
                </a:solidFill>
                <a:latin typeface="Times New Roman" panose="02020603050405020304" pitchFamily="18" charset="0"/>
                <a:cs typeface="Times New Roman" panose="02020603050405020304" pitchFamily="18" charset="0"/>
              </a:rPr>
              <a:t>, BUCKET, META_KEY,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":"application/</a:t>
            </a:r>
            <a:r>
              <a:rPr lang="en-US" dirty="0" err="1" smtClean="0">
                <a:solidFill>
                  <a:schemeClr val="bg1"/>
                </a:solidFill>
                <a:latin typeface="Times New Roman" panose="02020603050405020304" pitchFamily="18" charset="0"/>
                <a:cs typeface="Times New Roman" panose="02020603050405020304" pitchFamily="18" charset="0"/>
              </a:rPr>
              <a:t>json</a:t>
            </a:r>
            <a:r>
              <a:rPr lang="en-US" dirty="0" smtClean="0">
                <a:solidFill>
                  <a:schemeClr val="bg1"/>
                </a:solidFill>
                <a:latin typeface="Times New Roman" panose="02020603050405020304" pitchFamily="18" charset="0"/>
                <a:cs typeface="Times New Roman" panose="02020603050405020304" pitchFamily="18" charset="0"/>
              </a:rPr>
              <a:t>"})</a:t>
            </a:r>
          </a:p>
          <a:p>
            <a:r>
              <a:rPr lang="en-US" dirty="0" smtClean="0">
                <a:solidFill>
                  <a:schemeClr val="bg1"/>
                </a:solidFill>
                <a:latin typeface="Times New Roman" panose="02020603050405020304" pitchFamily="18" charset="0"/>
                <a:cs typeface="Times New Roman" panose="02020603050405020304" pitchFamily="18" charset="0"/>
              </a:rPr>
              <a:t>print("</a:t>
            </a:r>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updated.")</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226141" y="1714345"/>
            <a:ext cx="8465575" cy="1186171"/>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26141" y="3012997"/>
            <a:ext cx="4705101" cy="64633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 </a:t>
            </a:r>
          </a:p>
          <a:p>
            <a:r>
              <a:rPr lang="en-US" dirty="0" err="1" smtClean="0">
                <a:solidFill>
                  <a:schemeClr val="bg1"/>
                </a:solidFill>
                <a:latin typeface="Times New Roman" panose="02020603050405020304" pitchFamily="18" charset="0"/>
                <a:cs typeface="Times New Roman" panose="02020603050405020304" pitchFamily="18" charset="0"/>
              </a:rPr>
              <a:t>meta.json</a:t>
            </a:r>
            <a:r>
              <a:rPr lang="en-US" dirty="0" smtClean="0">
                <a:solidFill>
                  <a:schemeClr val="bg1"/>
                </a:solidFill>
                <a:latin typeface="Times New Roman" panose="02020603050405020304" pitchFamily="18" charset="0"/>
                <a:cs typeface="Times New Roman" panose="02020603050405020304" pitchFamily="18" charset="0"/>
              </a:rPr>
              <a:t> updated</a:t>
            </a:r>
            <a:r>
              <a:rPr lang="en-US" dirty="0" smtClean="0"/>
              <a:t>.</a:t>
            </a:r>
            <a:endParaRPr lang="en-US" dirty="0"/>
          </a:p>
        </p:txBody>
      </p:sp>
      <p:sp>
        <p:nvSpPr>
          <p:cNvPr id="8" name="Rectangle 7"/>
          <p:cNvSpPr/>
          <p:nvPr/>
        </p:nvSpPr>
        <p:spPr>
          <a:xfrm>
            <a:off x="226141" y="3038168"/>
            <a:ext cx="8445910" cy="639097"/>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26141" y="3782822"/>
            <a:ext cx="12586417" cy="64633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Scenario : </a:t>
            </a:r>
            <a:r>
              <a:rPr lang="en-US" dirty="0" smtClean="0">
                <a:solidFill>
                  <a:schemeClr val="bg1"/>
                </a:solidFill>
                <a:latin typeface="Times New Roman" panose="02020603050405020304" pitchFamily="18" charset="0"/>
                <a:cs typeface="Times New Roman" panose="02020603050405020304" pitchFamily="18" charset="0"/>
              </a:rPr>
              <a:t>The user replaces their reel with a higher-quality my_reel_v2.mp4, so the app re-uploads it to the same key reels/&lt;</a:t>
            </a:r>
            <a:r>
              <a:rPr lang="en-US" dirty="0" err="1" smtClean="0">
                <a:solidFill>
                  <a:schemeClr val="bg1"/>
                </a:solidFill>
                <a:latin typeface="Times New Roman" panose="02020603050405020304" pitchFamily="18" charset="0"/>
                <a:cs typeface="Times New Roman" panose="02020603050405020304" pitchFamily="18" charset="0"/>
              </a:rPr>
              <a:t>user_id</a:t>
            </a:r>
            <a:r>
              <a:rPr lang="en-US" dirty="0" smtClean="0">
                <a:solidFill>
                  <a:schemeClr val="bg1"/>
                </a:solidFill>
                <a:latin typeface="Times New Roman" panose="02020603050405020304" pitchFamily="18" charset="0"/>
                <a:cs typeface="Times New Roman" panose="02020603050405020304" pitchFamily="18" charset="0"/>
              </a:rPr>
              <a:t>&gt;/&lt;</a:t>
            </a:r>
            <a:r>
              <a:rPr lang="en-US" dirty="0" err="1" smtClean="0">
                <a:solidFill>
                  <a:schemeClr val="bg1"/>
                </a:solidFill>
                <a:latin typeface="Times New Roman" panose="02020603050405020304" pitchFamily="18" charset="0"/>
                <a:cs typeface="Times New Roman" panose="02020603050405020304" pitchFamily="18" charset="0"/>
              </a:rPr>
              <a:t>reel_id</a:t>
            </a:r>
            <a:r>
              <a:rPr lang="en-US" dirty="0" smtClean="0">
                <a:solidFill>
                  <a:schemeClr val="bg1"/>
                </a:solidFill>
                <a:latin typeface="Times New Roman" panose="02020603050405020304" pitchFamily="18" charset="0"/>
                <a:cs typeface="Times New Roman" panose="02020603050405020304" pitchFamily="18" charset="0"/>
              </a:rPr>
              <a:t>&gt;/video.mp4 (versioning keeps the old copy).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226141" y="4429153"/>
            <a:ext cx="9065342" cy="1477328"/>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UPDATE Operation</a:t>
            </a:r>
          </a:p>
          <a:p>
            <a:r>
              <a:rPr lang="en-US" dirty="0" err="1" smtClean="0">
                <a:solidFill>
                  <a:schemeClr val="bg1"/>
                </a:solidFill>
                <a:latin typeface="Times New Roman" panose="02020603050405020304" pitchFamily="18" charset="0"/>
                <a:cs typeface="Times New Roman" panose="02020603050405020304" pitchFamily="18" charset="0"/>
              </a:rPr>
              <a:t>better_video_path</a:t>
            </a:r>
            <a:r>
              <a:rPr lang="en-US" dirty="0" smtClean="0">
                <a:solidFill>
                  <a:schemeClr val="bg1"/>
                </a:solidFill>
                <a:latin typeface="Times New Roman" panose="02020603050405020304" pitchFamily="18" charset="0"/>
                <a:cs typeface="Times New Roman" panose="02020603050405020304" pitchFamily="18" charset="0"/>
              </a:rPr>
              <a:t> = </a:t>
            </a:r>
            <a:r>
              <a:rPr lang="en-US" dirty="0" err="1" smtClean="0">
                <a:solidFill>
                  <a:schemeClr val="bg1"/>
                </a:solidFill>
                <a:latin typeface="Times New Roman" panose="02020603050405020304" pitchFamily="18" charset="0"/>
                <a:cs typeface="Times New Roman" panose="02020603050405020304" pitchFamily="18" charset="0"/>
              </a:rPr>
              <a:t>r"C</a:t>
            </a:r>
            <a:r>
              <a:rPr lang="en-US" dirty="0" smtClean="0">
                <a:solidFill>
                  <a:schemeClr val="bg1"/>
                </a:solidFill>
                <a:latin typeface="Times New Roman" panose="02020603050405020304" pitchFamily="18" charset="0"/>
                <a:cs typeface="Times New Roman" panose="02020603050405020304" pitchFamily="18" charset="0"/>
              </a:rPr>
              <a:t>:\Users\You\Videos\my_reel_v2.mp4"</a:t>
            </a:r>
          </a:p>
          <a:p>
            <a:r>
              <a:rPr lang="en-US" dirty="0" smtClean="0">
                <a:solidFill>
                  <a:schemeClr val="bg1"/>
                </a:solidFill>
                <a:latin typeface="Times New Roman" panose="02020603050405020304" pitchFamily="18" charset="0"/>
                <a:cs typeface="Times New Roman" panose="02020603050405020304" pitchFamily="18" charset="0"/>
              </a:rPr>
              <a:t>s3.upload_file(</a:t>
            </a:r>
            <a:r>
              <a:rPr lang="en-US" dirty="0" err="1" smtClean="0">
                <a:solidFill>
                  <a:schemeClr val="bg1"/>
                </a:solidFill>
                <a:latin typeface="Times New Roman" panose="02020603050405020304" pitchFamily="18" charset="0"/>
                <a:cs typeface="Times New Roman" panose="02020603050405020304" pitchFamily="18" charset="0"/>
              </a:rPr>
              <a:t>better_video_path</a:t>
            </a:r>
            <a:r>
              <a:rPr lang="en-US" dirty="0" smtClean="0">
                <a:solidFill>
                  <a:schemeClr val="bg1"/>
                </a:solidFill>
                <a:latin typeface="Times New Roman" panose="02020603050405020304" pitchFamily="18" charset="0"/>
                <a:cs typeface="Times New Roman" panose="02020603050405020304" pitchFamily="18" charset="0"/>
              </a:rPr>
              <a:t>, BUCKET, VIDEO_KEY, </a:t>
            </a:r>
            <a:r>
              <a:rPr lang="en-US" dirty="0" err="1" smtClean="0">
                <a:solidFill>
                  <a:schemeClr val="bg1"/>
                </a:solidFill>
                <a:latin typeface="Times New Roman" panose="02020603050405020304" pitchFamily="18" charset="0"/>
                <a:cs typeface="Times New Roman" panose="02020603050405020304" pitchFamily="18" charset="0"/>
              </a:rPr>
              <a:t>ExtraArgs</a:t>
            </a:r>
            <a:r>
              <a:rPr lang="en-US" dirty="0" smtClean="0">
                <a:solidFill>
                  <a:schemeClr val="bg1"/>
                </a:solidFill>
                <a:latin typeface="Times New Roman" panose="02020603050405020304" pitchFamily="18" charset="0"/>
                <a:cs typeface="Times New Roman" panose="02020603050405020304" pitchFamily="18" charset="0"/>
              </a:rPr>
              <a:t>={"</a:t>
            </a:r>
            <a:r>
              <a:rPr lang="en-US" dirty="0" err="1" smtClean="0">
                <a:solidFill>
                  <a:schemeClr val="bg1"/>
                </a:solidFill>
                <a:latin typeface="Times New Roman" panose="02020603050405020304" pitchFamily="18" charset="0"/>
                <a:cs typeface="Times New Roman" panose="02020603050405020304" pitchFamily="18" charset="0"/>
              </a:rPr>
              <a:t>ContentType</a:t>
            </a:r>
            <a:r>
              <a:rPr lang="en-US" dirty="0" smtClean="0">
                <a:solidFill>
                  <a:schemeClr val="bg1"/>
                </a:solidFill>
                <a:latin typeface="Times New Roman" panose="02020603050405020304" pitchFamily="18" charset="0"/>
                <a:cs typeface="Times New Roman" panose="02020603050405020304" pitchFamily="18" charset="0"/>
              </a:rPr>
              <a:t>":"video/mp4"})</a:t>
            </a:r>
          </a:p>
          <a:p>
            <a:r>
              <a:rPr lang="en-US" dirty="0" smtClean="0">
                <a:solidFill>
                  <a:schemeClr val="bg1"/>
                </a:solidFill>
                <a:latin typeface="Times New Roman" panose="02020603050405020304" pitchFamily="18" charset="0"/>
                <a:cs typeface="Times New Roman" panose="02020603050405020304" pitchFamily="18" charset="0"/>
              </a:rPr>
              <a:t>print("Video updated (new version).")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226141" y="4429153"/>
            <a:ext cx="8465575" cy="1450537"/>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45806" y="6012426"/>
            <a:ext cx="8445910" cy="639097"/>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45806" y="6040903"/>
            <a:ext cx="2915157" cy="646331"/>
          </a:xfrm>
          <a:prstGeom prst="rect">
            <a:avLst/>
          </a:prstGeom>
        </p:spPr>
        <p:txBody>
          <a:bodyPr wrap="none">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a:t>
            </a:r>
          </a:p>
          <a:p>
            <a:r>
              <a:rPr lang="en-US" dirty="0" smtClean="0">
                <a:solidFill>
                  <a:schemeClr val="bg1"/>
                </a:solidFill>
                <a:latin typeface="Times New Roman" panose="02020603050405020304" pitchFamily="18" charset="0"/>
                <a:cs typeface="Times New Roman" panose="02020603050405020304" pitchFamily="18" charset="0"/>
              </a:rPr>
              <a:t>Video updated (new version).</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59126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2805"/>
            <a:ext cx="12192000" cy="650450"/>
          </a:xfrm>
          <a:prstGeom prst="rect">
            <a:avLst/>
          </a:prstGeom>
          <a:solidFill>
            <a:srgbClr val="6B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sz="2800" b="1" dirty="0" smtClean="0">
                <a:latin typeface="Times New Roman" panose="02020603050405020304" pitchFamily="18" charset="0"/>
                <a:cs typeface="Times New Roman" panose="02020603050405020304" pitchFamily="18" charset="0"/>
              </a:rPr>
              <a:t>CASE STUDY USING CRUD OPERATIONS</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63397" y="1068207"/>
            <a:ext cx="9489649" cy="1200329"/>
          </a:xfrm>
          <a:prstGeom prst="rect">
            <a:avLst/>
          </a:prstGeom>
        </p:spPr>
        <p:txBody>
          <a:bodyPr wrap="square">
            <a:spAutoFit/>
          </a:bodyPr>
          <a:lstStyle/>
          <a:p>
            <a:r>
              <a:rPr lang="en-US" b="1" smtClean="0">
                <a:solidFill>
                  <a:schemeClr val="bg1"/>
                </a:solidFill>
                <a:latin typeface="Times New Roman" panose="02020603050405020304" pitchFamily="18" charset="0"/>
                <a:cs typeface="Times New Roman" panose="02020603050405020304" pitchFamily="18" charset="0"/>
              </a:rPr>
              <a:t>Scenario : </a:t>
            </a:r>
            <a:r>
              <a:rPr lang="en-US" smtClean="0">
                <a:solidFill>
                  <a:schemeClr val="bg1"/>
                </a:solidFill>
                <a:latin typeface="Times New Roman" panose="02020603050405020304" pitchFamily="18" charset="0"/>
                <a:cs typeface="Times New Roman" panose="02020603050405020304" pitchFamily="18" charset="0"/>
              </a:rPr>
              <a:t>The user decides to remove a reel, so the app deletes all three objects—video.mp4, thumb.jpg, and meta.json—under reels/&lt;user_id&gt;/&lt;reel_id&gt;/. Because bucket versioning is ON, S3 adds delete markers instead of permanently erasing the data, so if it was a mistake, support can restore a previous version of any file later.</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p:cNvSpPr/>
          <p:nvPr/>
        </p:nvSpPr>
        <p:spPr>
          <a:xfrm>
            <a:off x="163397" y="2268536"/>
            <a:ext cx="8726078" cy="3139321"/>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DELETE Operation</a:t>
            </a:r>
          </a:p>
          <a:p>
            <a:r>
              <a:rPr lang="en-US" dirty="0" smtClean="0">
                <a:solidFill>
                  <a:schemeClr val="bg1"/>
                </a:solidFill>
                <a:latin typeface="Times New Roman" panose="02020603050405020304" pitchFamily="18" charset="0"/>
                <a:cs typeface="Times New Roman" panose="02020603050405020304" pitchFamily="18" charset="0"/>
              </a:rPr>
              <a:t>for k in [VIDEO_KEY, THUMB_KEY, META_KEY]:</a:t>
            </a:r>
          </a:p>
          <a:p>
            <a:r>
              <a:rPr lang="en-US" dirty="0" smtClean="0">
                <a:solidFill>
                  <a:schemeClr val="bg1"/>
                </a:solidFill>
                <a:latin typeface="Times New Roman" panose="02020603050405020304" pitchFamily="18" charset="0"/>
                <a:cs typeface="Times New Roman" panose="02020603050405020304" pitchFamily="18" charset="0"/>
              </a:rPr>
              <a:t>    s3.delete_object(Bucket=BUCKET, Key=k)</a:t>
            </a:r>
          </a:p>
          <a:p>
            <a:r>
              <a:rPr lang="en-US" dirty="0" smtClean="0">
                <a:solidFill>
                  <a:schemeClr val="bg1"/>
                </a:solidFill>
                <a:latin typeface="Times New Roman" panose="02020603050405020304" pitchFamily="18" charset="0"/>
                <a:cs typeface="Times New Roman" panose="02020603050405020304" pitchFamily="18" charset="0"/>
              </a:rPr>
              <a:t>print("Reel deleted (delete markers added).")</a:t>
            </a:r>
          </a:p>
          <a:p>
            <a:endParaRPr lang="en-US" dirty="0" smtClean="0">
              <a:solidFill>
                <a:schemeClr val="bg1"/>
              </a:solidFill>
              <a:latin typeface="Times New Roman" panose="02020603050405020304" pitchFamily="18" charset="0"/>
              <a:cs typeface="Times New Roman" panose="02020603050405020304" pitchFamily="18" charset="0"/>
            </a:endParaRPr>
          </a:p>
          <a:p>
            <a:r>
              <a:rPr lang="en-US" b="1" dirty="0" smtClean="0">
                <a:solidFill>
                  <a:schemeClr val="bg1"/>
                </a:solidFill>
                <a:latin typeface="Times New Roman" panose="02020603050405020304" pitchFamily="18" charset="0"/>
                <a:cs typeface="Times New Roman" panose="02020603050405020304" pitchFamily="18" charset="0"/>
              </a:rPr>
              <a:t># Show it’s gone unless using a specific version</a:t>
            </a:r>
          </a:p>
          <a:p>
            <a:r>
              <a:rPr lang="en-US" dirty="0" smtClean="0">
                <a:solidFill>
                  <a:schemeClr val="bg1"/>
                </a:solidFill>
                <a:latin typeface="Times New Roman" panose="02020603050405020304" pitchFamily="18" charset="0"/>
                <a:cs typeface="Times New Roman" panose="02020603050405020304" pitchFamily="18" charset="0"/>
              </a:rPr>
              <a:t>from </a:t>
            </a:r>
            <a:r>
              <a:rPr lang="en-US" dirty="0" err="1" smtClean="0">
                <a:solidFill>
                  <a:schemeClr val="bg1"/>
                </a:solidFill>
                <a:latin typeface="Times New Roman" panose="02020603050405020304" pitchFamily="18" charset="0"/>
                <a:cs typeface="Times New Roman" panose="02020603050405020304" pitchFamily="18" charset="0"/>
              </a:rPr>
              <a:t>botocore.exceptions</a:t>
            </a:r>
            <a:r>
              <a:rPr lang="en-US" dirty="0" smtClean="0">
                <a:solidFill>
                  <a:schemeClr val="bg1"/>
                </a:solidFill>
                <a:latin typeface="Times New Roman" panose="02020603050405020304" pitchFamily="18" charset="0"/>
                <a:cs typeface="Times New Roman" panose="02020603050405020304" pitchFamily="18" charset="0"/>
              </a:rPr>
              <a:t> import </a:t>
            </a:r>
            <a:r>
              <a:rPr lang="en-US" dirty="0" err="1" smtClean="0">
                <a:solidFill>
                  <a:schemeClr val="bg1"/>
                </a:solidFill>
                <a:latin typeface="Times New Roman" panose="02020603050405020304" pitchFamily="18" charset="0"/>
                <a:cs typeface="Times New Roman" panose="02020603050405020304" pitchFamily="18" charset="0"/>
              </a:rPr>
              <a:t>ClientError</a:t>
            </a:r>
            <a:endParaRPr lang="en-US" dirty="0" smtClean="0">
              <a:solidFill>
                <a:schemeClr val="bg1"/>
              </a:solidFill>
              <a:latin typeface="Times New Roman" panose="02020603050405020304" pitchFamily="18" charset="0"/>
              <a:cs typeface="Times New Roman" panose="02020603050405020304" pitchFamily="18" charset="0"/>
            </a:endParaRPr>
          </a:p>
          <a:p>
            <a:r>
              <a:rPr lang="en-US" dirty="0" smtClean="0">
                <a:solidFill>
                  <a:schemeClr val="bg1"/>
                </a:solidFill>
                <a:latin typeface="Times New Roman" panose="02020603050405020304" pitchFamily="18" charset="0"/>
                <a:cs typeface="Times New Roman" panose="02020603050405020304" pitchFamily="18" charset="0"/>
              </a:rPr>
              <a:t>try:</a:t>
            </a:r>
          </a:p>
          <a:p>
            <a:r>
              <a:rPr lang="en-US" dirty="0" smtClean="0">
                <a:solidFill>
                  <a:schemeClr val="bg1"/>
                </a:solidFill>
                <a:latin typeface="Times New Roman" panose="02020603050405020304" pitchFamily="18" charset="0"/>
                <a:cs typeface="Times New Roman" panose="02020603050405020304" pitchFamily="18" charset="0"/>
              </a:rPr>
              <a:t>    s3.head_object(Bucket=BUCKET, Key=VIDEO_KEY)</a:t>
            </a:r>
          </a:p>
          <a:p>
            <a:r>
              <a:rPr lang="en-US" dirty="0" smtClean="0">
                <a:solidFill>
                  <a:schemeClr val="bg1"/>
                </a:solidFill>
                <a:latin typeface="Times New Roman" panose="02020603050405020304" pitchFamily="18" charset="0"/>
                <a:cs typeface="Times New Roman" panose="02020603050405020304" pitchFamily="18" charset="0"/>
              </a:rPr>
              <a:t>except </a:t>
            </a:r>
            <a:r>
              <a:rPr lang="en-US" dirty="0" err="1" smtClean="0">
                <a:solidFill>
                  <a:schemeClr val="bg1"/>
                </a:solidFill>
                <a:latin typeface="Times New Roman" panose="02020603050405020304" pitchFamily="18" charset="0"/>
                <a:cs typeface="Times New Roman" panose="02020603050405020304" pitchFamily="18" charset="0"/>
              </a:rPr>
              <a:t>ClientError</a:t>
            </a:r>
            <a:r>
              <a:rPr lang="en-US" dirty="0" smtClean="0">
                <a:solidFill>
                  <a:schemeClr val="bg1"/>
                </a:solidFill>
                <a:latin typeface="Times New Roman" panose="02020603050405020304" pitchFamily="18" charset="0"/>
                <a:cs typeface="Times New Roman" panose="02020603050405020304" pitchFamily="18" charset="0"/>
              </a:rPr>
              <a:t> as e:</a:t>
            </a:r>
          </a:p>
          <a:p>
            <a:r>
              <a:rPr lang="en-US" dirty="0" smtClean="0">
                <a:solidFill>
                  <a:schemeClr val="bg1"/>
                </a:solidFill>
                <a:latin typeface="Times New Roman" panose="02020603050405020304" pitchFamily="18" charset="0"/>
                <a:cs typeface="Times New Roman" panose="02020603050405020304" pitchFamily="18" charset="0"/>
              </a:rPr>
              <a:t>    print("HEAD after delete:", </a:t>
            </a:r>
            <a:r>
              <a:rPr lang="en-US" dirty="0" err="1" smtClean="0">
                <a:solidFill>
                  <a:schemeClr val="bg1"/>
                </a:solidFill>
                <a:latin typeface="Times New Roman" panose="02020603050405020304" pitchFamily="18" charset="0"/>
                <a:cs typeface="Times New Roman" panose="02020603050405020304" pitchFamily="18" charset="0"/>
              </a:rPr>
              <a:t>e.response</a:t>
            </a:r>
            <a:r>
              <a:rPr lang="en-US" dirty="0" smtClean="0">
                <a:solidFill>
                  <a:schemeClr val="bg1"/>
                </a:solidFill>
                <a:latin typeface="Times New Roman" panose="02020603050405020304" pitchFamily="18" charset="0"/>
                <a:cs typeface="Times New Roman" panose="02020603050405020304" pitchFamily="18" charset="0"/>
              </a:rPr>
              <a:t>["Error"]["Code"])  # should be 404</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163397" y="2268536"/>
            <a:ext cx="8716652" cy="3161303"/>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63397" y="5684856"/>
            <a:ext cx="7340338" cy="923330"/>
          </a:xfrm>
          <a:prstGeom prst="rect">
            <a:avLst/>
          </a:prstGeom>
        </p:spPr>
        <p:txBody>
          <a:bodyPr wrap="square">
            <a:spAutoFit/>
          </a:bodyPr>
          <a:lstStyle/>
          <a:p>
            <a:r>
              <a:rPr lang="en-US" b="1" dirty="0" smtClean="0">
                <a:solidFill>
                  <a:schemeClr val="bg1"/>
                </a:solidFill>
                <a:latin typeface="Times New Roman" panose="02020603050405020304" pitchFamily="18" charset="0"/>
                <a:cs typeface="Times New Roman" panose="02020603050405020304" pitchFamily="18" charset="0"/>
              </a:rPr>
              <a:t>OUTPUT</a:t>
            </a:r>
          </a:p>
          <a:p>
            <a:r>
              <a:rPr lang="en-US" dirty="0" smtClean="0">
                <a:solidFill>
                  <a:schemeClr val="bg1"/>
                </a:solidFill>
                <a:latin typeface="Times New Roman" panose="02020603050405020304" pitchFamily="18" charset="0"/>
                <a:cs typeface="Times New Roman" panose="02020603050405020304" pitchFamily="18" charset="0"/>
              </a:rPr>
              <a:t>Reel deleted (delete markers added).</a:t>
            </a:r>
          </a:p>
          <a:p>
            <a:r>
              <a:rPr lang="en-US" dirty="0" smtClean="0">
                <a:solidFill>
                  <a:schemeClr val="bg1"/>
                </a:solidFill>
                <a:latin typeface="Times New Roman" panose="02020603050405020304" pitchFamily="18" charset="0"/>
                <a:cs typeface="Times New Roman" panose="02020603050405020304" pitchFamily="18" charset="0"/>
              </a:rPr>
              <a:t>HEAD after delete: 404</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Rectangle 6"/>
          <p:cNvSpPr/>
          <p:nvPr/>
        </p:nvSpPr>
        <p:spPr>
          <a:xfrm>
            <a:off x="163397" y="5674936"/>
            <a:ext cx="8716652" cy="933250"/>
          </a:xfrm>
          <a:prstGeom prst="rect">
            <a:avLst/>
          </a:prstGeom>
          <a:noFill/>
          <a:ln>
            <a:solidFill>
              <a:srgbClr val="6B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0338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Qatar_Airways_QBR_Final_Presentation</Template>
  <TotalTime>493</TotalTime>
  <Words>1989</Words>
  <Application>Microsoft Office PowerPoint</Application>
  <PresentationFormat>Widescreen</PresentationFormat>
  <Paragraphs>228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Century Gothic</vt:lpstr>
      <vt:lpstr>Times New Roman</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Moorche</dc:creator>
  <cp:lastModifiedBy>Moorche</cp:lastModifiedBy>
  <cp:revision>20</cp:revision>
  <dcterms:created xsi:type="dcterms:W3CDTF">2025-09-23T15:08:42Z</dcterms:created>
  <dcterms:modified xsi:type="dcterms:W3CDTF">2025-09-23T23:22:29Z</dcterms:modified>
</cp:coreProperties>
</file>